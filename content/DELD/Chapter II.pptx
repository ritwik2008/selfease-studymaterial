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32.jpg" ContentType="image/jpe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5"/>
  </p:notesMasterIdLst>
  <p:sldIdLst>
    <p:sldId id="765" r:id="rId2"/>
    <p:sldId id="787" r:id="rId3"/>
    <p:sldId id="766" r:id="rId4"/>
    <p:sldId id="767" r:id="rId5"/>
    <p:sldId id="260" r:id="rId6"/>
    <p:sldId id="768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769" r:id="rId16"/>
    <p:sldId id="271" r:id="rId17"/>
    <p:sldId id="272" r:id="rId18"/>
    <p:sldId id="273" r:id="rId19"/>
    <p:sldId id="777" r:id="rId20"/>
    <p:sldId id="274" r:id="rId21"/>
    <p:sldId id="275" r:id="rId22"/>
    <p:sldId id="276" r:id="rId23"/>
    <p:sldId id="783" r:id="rId24"/>
    <p:sldId id="786" r:id="rId25"/>
    <p:sldId id="788" r:id="rId26"/>
    <p:sldId id="797" r:id="rId27"/>
    <p:sldId id="789" r:id="rId28"/>
    <p:sldId id="790" r:id="rId29"/>
    <p:sldId id="791" r:id="rId30"/>
    <p:sldId id="792" r:id="rId31"/>
    <p:sldId id="796" r:id="rId32"/>
    <p:sldId id="795" r:id="rId33"/>
    <p:sldId id="793" r:id="rId34"/>
    <p:sldId id="794" r:id="rId35"/>
    <p:sldId id="781" r:id="rId36"/>
    <p:sldId id="782" r:id="rId37"/>
    <p:sldId id="277" r:id="rId38"/>
    <p:sldId id="278" r:id="rId39"/>
    <p:sldId id="279" r:id="rId40"/>
    <p:sldId id="280" r:id="rId41"/>
    <p:sldId id="799" r:id="rId42"/>
    <p:sldId id="798" r:id="rId43"/>
    <p:sldId id="281" r:id="rId44"/>
    <p:sldId id="282" r:id="rId45"/>
    <p:sldId id="283" r:id="rId46"/>
    <p:sldId id="284" r:id="rId47"/>
    <p:sldId id="285" r:id="rId48"/>
    <p:sldId id="286" r:id="rId49"/>
    <p:sldId id="784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780" r:id="rId61"/>
    <p:sldId id="779" r:id="rId62"/>
    <p:sldId id="785" r:id="rId63"/>
    <p:sldId id="800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859396-1DAF-40A6-AFDA-AFBDF0E7E61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BD79E-DD58-4736-94E6-BB22E7778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9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28F340-9060-4B3E-BE1D-16576618EA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480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BD79E-DD58-4736-94E6-BB22E77782B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72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02963-3545-42B7-AADF-61C75B3EBBC0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6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8A08-9235-4482-AA98-169107CA1891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813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7BBA8-8250-4275-8E1D-C581345D66A8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6AF9-B5C6-4302-8F8D-87762A0E0C64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4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C8EC6-0E79-431C-9404-B711A5858F10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7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9375" y="40244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491204" cy="501650"/>
          </a:xfrm>
        </p:spPr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</a:t>
            </a:r>
            <a:r>
              <a:rPr lang="en-IN" dirty="0"/>
              <a:t>Digital Electronics and Logic Design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07902" y="6356350"/>
            <a:ext cx="3245498" cy="501650"/>
          </a:xfrm>
        </p:spPr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pic>
        <p:nvPicPr>
          <p:cNvPr id="6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"/>
            <a:ext cx="1270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5674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3FBF-2975-4FEF-BF99-23B43613CF77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"/>
            <a:ext cx="1270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9106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20C8D-F65D-436F-A3A4-BA6DB2675427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9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2693-F6CE-4924-9A6B-84AA964E11BB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31B7-4DD0-435E-B5D2-C5D9FD4EFC3F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3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1E030-2465-4A9D-8F67-2BA782AF9BE5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68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1200" y="190500"/>
            <a:ext cx="8128000" cy="15271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251200" y="1905000"/>
            <a:ext cx="3962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6800" y="1905000"/>
            <a:ext cx="3962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960974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FEBE451-96EB-4E99-BB23-B95384881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BFA529-6A8D-4576-82EB-748F7D0AC3A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A41A5AC-7652-4B68-91B7-2AD9066B2A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Digital Electronics (ECE20020)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59B58F8-BA9A-4D5B-87C5-FA6513AC09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84D7D-C807-496C-9AD3-90D756EDF3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22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9FA66-7550-43FF-AAA2-2D65D3521E4A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Digital Electronics (ECE20020)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F4ECA-2C00-4129-AA22-2996D096F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8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f_3aBwtVU4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082B33-E319-4A26-B41D-C56180337B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96686" y="3976688"/>
            <a:ext cx="10515600" cy="10742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Integrated Circuit Technology :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Logic Families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998435"/>
            <a:ext cx="10515600" cy="1325563"/>
          </a:xfrm>
        </p:spPr>
        <p:txBody>
          <a:bodyPr>
            <a:normAutofit fontScale="90000"/>
          </a:bodyPr>
          <a:lstStyle/>
          <a:p>
            <a:pPr algn="ctr">
              <a:spcBef>
                <a:spcPts val="1000"/>
              </a:spcBef>
            </a:pPr>
            <a:r>
              <a:rPr lang="en-US" sz="4800" b="1" dirty="0">
                <a:latin typeface="Times New Roman" pitchFamily="18" charset="0"/>
                <a:ea typeface="+mn-ea"/>
                <a:cs typeface="Times New Roman" pitchFamily="18" charset="0"/>
              </a:rPr>
              <a:t>Unit II: Integrated Circuit Technology </a:t>
            </a:r>
            <a:br>
              <a:rPr lang="en-US" sz="4800" b="1" dirty="0">
                <a:latin typeface="Times New Roman" pitchFamily="18" charset="0"/>
                <a:ea typeface="+mn-ea"/>
                <a:cs typeface="Times New Roman" pitchFamily="18" charset="0"/>
              </a:rPr>
            </a:br>
            <a:endParaRPr lang="en-US" sz="48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D6AC0D-CF4C-5092-21FB-6B15D504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0397E-ADBB-4199-925F-CBAAEF61E00E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D29F5-B657-AA53-3EF8-6A6561C4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</p:spTree>
    <p:extLst>
      <p:ext uri="{BB962C8B-B14F-4D97-AF65-F5344CB8AC3E}">
        <p14:creationId xmlns:p14="http://schemas.microsoft.com/office/powerpoint/2010/main" val="152827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52BF-9C40-A44F-09BE-53D982D98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8389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Check our knowledge </a:t>
            </a:r>
          </a:p>
        </p:txBody>
      </p:sp>
      <p:pic>
        <p:nvPicPr>
          <p:cNvPr id="7" name="Online Media 6" title="Guess the Logic Gate? | Semiconductor Club">
            <a:hlinkClick r:id="" action="ppaction://media"/>
            <a:extLst>
              <a:ext uri="{FF2B5EF4-FFF2-40B4-BE49-F238E27FC236}">
                <a16:creationId xmlns:a16="http://schemas.microsoft.com/office/drawing/2014/main" id="{C80476B0-19A9-25F7-B2E6-CB80B6F7D3F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096000" y="365125"/>
            <a:ext cx="4874449" cy="55108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4B53A-4FC3-3B0B-DA83-63FA12AF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8A08-9235-4482-AA98-169107CA1891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77A47-4F68-FE5E-F9D0-CE223598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E2022-C9E0-B787-4F41-3360D922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7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833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666" y="1115941"/>
            <a:ext cx="10515600" cy="479353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What is logic families?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is a group of compatible ICs with the same logic levels &amp; supply voltages for performing various logic functions have been fabricated using a specific circuit configuration</a:t>
            </a:r>
          </a:p>
          <a:p>
            <a:pPr marL="457200" lvl="1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Significance of logic families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and most important is simplicity in design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reduces the complexity in design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Provide compatibility in digital circuit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Easy to expand</a:t>
            </a:r>
          </a:p>
          <a:p>
            <a:pPr lvl="1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082B33-E319-4A26-B41D-C56180337B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Google Shape;1949;p1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381" y="92904"/>
            <a:ext cx="621285" cy="57616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01B0833-F20C-186C-4E71-0A1002EEC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42F6C-69A4-4053-9AE3-48A852DE4444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D4DC89B-55AD-68D3-A434-BC8DB880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</p:spTree>
    <p:extLst>
      <p:ext uri="{BB962C8B-B14F-4D97-AF65-F5344CB8AC3E}">
        <p14:creationId xmlns:p14="http://schemas.microsoft.com/office/powerpoint/2010/main" val="2176219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1410" y="78491"/>
            <a:ext cx="7668342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Classification of Logic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1" y="1524000"/>
            <a:ext cx="178446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Logic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1" y="2571690"/>
            <a:ext cx="116730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Unipolar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91401" y="2571690"/>
            <a:ext cx="101021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Bipolar</a:t>
            </a:r>
          </a:p>
        </p:txBody>
      </p:sp>
      <p:cxnSp>
        <p:nvCxnSpPr>
          <p:cNvPr id="8" name="Shape 7"/>
          <p:cNvCxnSpPr>
            <a:stCxn id="4" idx="2"/>
            <a:endCxn id="6" idx="0"/>
          </p:cNvCxnSpPr>
          <p:nvPr/>
        </p:nvCxnSpPr>
        <p:spPr>
          <a:xfrm rot="16200000" flipH="1">
            <a:off x="6508979" y="1184163"/>
            <a:ext cx="647580" cy="212747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4" idx="2"/>
            <a:endCxn id="5" idx="0"/>
          </p:cNvCxnSpPr>
          <p:nvPr/>
        </p:nvCxnSpPr>
        <p:spPr>
          <a:xfrm rot="5400000">
            <a:off x="4490853" y="1293511"/>
            <a:ext cx="647580" cy="190877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33601" y="3638490"/>
            <a:ext cx="92525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1" y="3638490"/>
            <a:ext cx="95410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1" y="3657600"/>
            <a:ext cx="95410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CMOS</a:t>
            </a:r>
          </a:p>
        </p:txBody>
      </p:sp>
      <p:cxnSp>
        <p:nvCxnSpPr>
          <p:cNvPr id="17" name="Elbow Connector 16"/>
          <p:cNvCxnSpPr>
            <a:stCxn id="5" idx="2"/>
            <a:endCxn id="15" idx="0"/>
          </p:cNvCxnSpPr>
          <p:nvPr/>
        </p:nvCxnSpPr>
        <p:spPr>
          <a:xfrm rot="16200000" flipH="1">
            <a:off x="4187954" y="2644100"/>
            <a:ext cx="685800" cy="13412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5" idx="2"/>
            <a:endCxn id="13" idx="0"/>
          </p:cNvCxnSpPr>
          <p:nvPr/>
        </p:nvCxnSpPr>
        <p:spPr>
          <a:xfrm rot="5400000">
            <a:off x="2894896" y="2673133"/>
            <a:ext cx="666690" cy="126402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5" idx="2"/>
            <a:endCxn id="14" idx="0"/>
          </p:cNvCxnSpPr>
          <p:nvPr/>
        </p:nvCxnSpPr>
        <p:spPr>
          <a:xfrm rot="16200000" flipH="1">
            <a:off x="3549809" y="3282245"/>
            <a:ext cx="666690" cy="458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715001" y="4476690"/>
            <a:ext cx="126669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Saturated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1" y="4476690"/>
            <a:ext cx="178766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Non Saturated</a:t>
            </a:r>
          </a:p>
        </p:txBody>
      </p:sp>
      <p:cxnSp>
        <p:nvCxnSpPr>
          <p:cNvPr id="28" name="Elbow Connector 27"/>
          <p:cNvCxnSpPr>
            <a:stCxn id="6" idx="2"/>
            <a:endCxn id="26" idx="0"/>
          </p:cNvCxnSpPr>
          <p:nvPr/>
        </p:nvCxnSpPr>
        <p:spPr>
          <a:xfrm rot="16200000" flipH="1">
            <a:off x="7871826" y="2996481"/>
            <a:ext cx="1504890" cy="145552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6" idx="2"/>
            <a:endCxn id="25" idx="0"/>
          </p:cNvCxnSpPr>
          <p:nvPr/>
        </p:nvCxnSpPr>
        <p:spPr>
          <a:xfrm rot="5400000">
            <a:off x="6369982" y="2950165"/>
            <a:ext cx="1504890" cy="154816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419600" y="5486400"/>
            <a:ext cx="70461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RTL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1" y="5486400"/>
            <a:ext cx="71365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DTL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3200" y="5486400"/>
            <a:ext cx="69923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TTL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6200" y="5410200"/>
            <a:ext cx="18407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Schottkey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TTL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7185" y="5410200"/>
            <a:ext cx="71365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ECL</a:t>
            </a:r>
          </a:p>
        </p:txBody>
      </p:sp>
      <p:cxnSp>
        <p:nvCxnSpPr>
          <p:cNvPr id="39" name="Shape 38"/>
          <p:cNvCxnSpPr>
            <a:stCxn id="26" idx="2"/>
            <a:endCxn id="36" idx="0"/>
          </p:cNvCxnSpPr>
          <p:nvPr/>
        </p:nvCxnSpPr>
        <p:spPr>
          <a:xfrm rot="5400000">
            <a:off x="8717608" y="4775774"/>
            <a:ext cx="533400" cy="73545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26" idx="2"/>
            <a:endCxn id="37" idx="0"/>
          </p:cNvCxnSpPr>
          <p:nvPr/>
        </p:nvCxnSpPr>
        <p:spPr>
          <a:xfrm rot="16200000" flipH="1">
            <a:off x="9531324" y="4697511"/>
            <a:ext cx="533400" cy="89197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5" idx="2"/>
            <a:endCxn id="33" idx="0"/>
          </p:cNvCxnSpPr>
          <p:nvPr/>
        </p:nvCxnSpPr>
        <p:spPr>
          <a:xfrm rot="5400000">
            <a:off x="5255328" y="4393382"/>
            <a:ext cx="609600" cy="157643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25" idx="2"/>
            <a:endCxn id="34" idx="0"/>
          </p:cNvCxnSpPr>
          <p:nvPr/>
        </p:nvCxnSpPr>
        <p:spPr>
          <a:xfrm rot="5400000">
            <a:off x="5790988" y="4929041"/>
            <a:ext cx="609600" cy="50511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stCxn id="25" idx="2"/>
            <a:endCxn id="35" idx="0"/>
          </p:cNvCxnSpPr>
          <p:nvPr/>
        </p:nvCxnSpPr>
        <p:spPr>
          <a:xfrm rot="16200000" flipH="1">
            <a:off x="6320781" y="4904366"/>
            <a:ext cx="609600" cy="55446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082B33-E319-4A26-B41D-C56180337B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348347" y="5268036"/>
            <a:ext cx="1157922" cy="750627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" name="Google Shape;1949;p1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381" y="92904"/>
            <a:ext cx="738155" cy="8224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66E81-1E25-EC5E-9F15-2F69B08C9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1C80-0A7D-4D28-9CE6-1BC6BB1CCF66}" type="datetime1">
              <a:rPr lang="en-US" smtClean="0"/>
              <a:t>9/30/2026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23B7F85-2D02-6001-A4F7-9A66EEF7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</p:spTree>
    <p:extLst>
      <p:ext uri="{BB962C8B-B14F-4D97-AF65-F5344CB8AC3E}">
        <p14:creationId xmlns:p14="http://schemas.microsoft.com/office/powerpoint/2010/main" val="370883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1141" y="1316482"/>
            <a:ext cx="7729855" cy="10020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162050" algn="l"/>
                <a:tab pos="2284730" algn="l"/>
                <a:tab pos="4626610" algn="l"/>
                <a:tab pos="6135370" algn="l"/>
              </a:tabLst>
            </a:pPr>
            <a:r>
              <a:rPr sz="3200" spc="-25" dirty="0"/>
              <a:t>ICs</a:t>
            </a:r>
            <a:r>
              <a:rPr sz="3200" dirty="0"/>
              <a:t>	</a:t>
            </a:r>
            <a:r>
              <a:rPr sz="3200" spc="-25" dirty="0"/>
              <a:t>are</a:t>
            </a:r>
            <a:r>
              <a:rPr sz="3200" dirty="0"/>
              <a:t>	</a:t>
            </a:r>
            <a:r>
              <a:rPr sz="3200" spc="-10" dirty="0"/>
              <a:t>integrated</a:t>
            </a:r>
            <a:r>
              <a:rPr sz="3200" dirty="0"/>
              <a:t>	</a:t>
            </a:r>
            <a:r>
              <a:rPr sz="3200" spc="-10" dirty="0"/>
              <a:t>using</a:t>
            </a:r>
            <a:r>
              <a:rPr sz="3200" dirty="0"/>
              <a:t>	</a:t>
            </a:r>
            <a:r>
              <a:rPr sz="3200" spc="-10" dirty="0"/>
              <a:t>following </a:t>
            </a:r>
            <a:r>
              <a:rPr sz="3200" dirty="0"/>
              <a:t>integration</a:t>
            </a:r>
            <a:r>
              <a:rPr sz="3200" spc="-100" dirty="0"/>
              <a:t> </a:t>
            </a:r>
            <a:r>
              <a:rPr sz="3200" spc="-10" dirty="0"/>
              <a:t>techniques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028240" y="2292833"/>
            <a:ext cx="6617970" cy="298350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spcBef>
                <a:spcPts val="8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SSI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(upto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12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logic</a:t>
            </a:r>
            <a:r>
              <a:rPr sz="3200" spc="-10" dirty="0">
                <a:latin typeface="Arial MT"/>
                <a:cs typeface="Arial MT"/>
              </a:rPr>
              <a:t> gates)</a:t>
            </a:r>
            <a:endParaRPr sz="3200">
              <a:latin typeface="Arial MT"/>
              <a:cs typeface="Arial MT"/>
            </a:endParaRPr>
          </a:p>
          <a:p>
            <a:pPr marL="354965" indent="-342265"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MSI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(12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99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logic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gates)</a:t>
            </a:r>
            <a:endParaRPr sz="3200">
              <a:latin typeface="Arial MT"/>
              <a:cs typeface="Arial MT"/>
            </a:endParaRPr>
          </a:p>
          <a:p>
            <a:pPr marL="354965" indent="-342265"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LSI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(100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9999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logic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gates)</a:t>
            </a:r>
            <a:endParaRPr sz="3200">
              <a:latin typeface="Arial MT"/>
              <a:cs typeface="Arial MT"/>
            </a:endParaRPr>
          </a:p>
          <a:p>
            <a:pPr marL="354965" indent="-342265"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VLSI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(10,000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99999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logic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gates)</a:t>
            </a:r>
            <a:endParaRPr sz="3200">
              <a:latin typeface="Arial MT"/>
              <a:cs typeface="Arial MT"/>
            </a:endParaRPr>
          </a:p>
          <a:p>
            <a:pPr marL="354965" indent="-342265"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ULSI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(&gt;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100,000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logic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gates)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941" y="6273495"/>
            <a:ext cx="16338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September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18,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2019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07346" y="6273495"/>
            <a:ext cx="1250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7103" y="6273495"/>
            <a:ext cx="2177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Digital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Electronics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MITCOE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59817D-EEFC-A77B-1691-171F3BE9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3B7A-488B-4099-AA9C-0CDA6640BEED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03D0C-602E-963B-FC17-D73114679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04AF8-F06A-77CA-9EA5-E0F7FA0F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44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Digital 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536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of Operation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Dissipation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of Merit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Out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and Voltage Parameters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Immunity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Requirements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Temperature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1F3E78-BDF1-4F74-B51F-E905096D687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9/30/2026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F914A3-6CD2-4E40-9F55-1FCC0F9206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Google Shape;1949;p1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381" y="92904"/>
            <a:ext cx="738155" cy="8224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25EB031-8B3E-520E-6E8A-CF171BEB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</p:spTree>
    <p:extLst>
      <p:ext uri="{BB962C8B-B14F-4D97-AF65-F5344CB8AC3E}">
        <p14:creationId xmlns:p14="http://schemas.microsoft.com/office/powerpoint/2010/main" val="3283621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0553" y="722750"/>
            <a:ext cx="8546465" cy="39192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367665" indent="-342265">
              <a:spcBef>
                <a:spcPts val="1055"/>
              </a:spcBef>
              <a:buChar char="•"/>
              <a:tabLst>
                <a:tab pos="367665" algn="l"/>
              </a:tabLst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High-</a:t>
            </a:r>
            <a:r>
              <a:rPr sz="2000" dirty="0">
                <a:latin typeface="Arial MT"/>
                <a:cs typeface="Arial MT"/>
              </a:rPr>
              <a:t>state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driving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second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gate,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define:</a:t>
            </a:r>
            <a:endParaRPr sz="2000">
              <a:latin typeface="Arial MT"/>
              <a:cs typeface="Arial MT"/>
            </a:endParaRPr>
          </a:p>
          <a:p>
            <a:pPr marL="768985" marR="278130" lvl="1" indent="-287020">
              <a:lnSpc>
                <a:spcPts val="3240"/>
              </a:lnSpc>
              <a:spcBef>
                <a:spcPts val="330"/>
              </a:spcBef>
              <a:buSzPct val="108333"/>
              <a:buFont typeface="Arial MT"/>
              <a:buChar char="–"/>
              <a:tabLst>
                <a:tab pos="768985" algn="l"/>
              </a:tabLst>
            </a:pPr>
            <a:r>
              <a:rPr b="1" dirty="0">
                <a:latin typeface="Arial"/>
                <a:cs typeface="Arial"/>
              </a:rPr>
              <a:t>V</a:t>
            </a:r>
            <a:r>
              <a:rPr b="1" baseline="-20833" dirty="0">
                <a:latin typeface="Arial"/>
                <a:cs typeface="Arial"/>
              </a:rPr>
              <a:t>OH</a:t>
            </a:r>
            <a:r>
              <a:rPr b="1" spc="187" baseline="-2083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(min),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high-</a:t>
            </a:r>
            <a:r>
              <a:rPr b="1" dirty="0">
                <a:latin typeface="Arial"/>
                <a:cs typeface="Arial"/>
              </a:rPr>
              <a:t>level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output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voltage,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minimum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voltage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level that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a </a:t>
            </a:r>
            <a:r>
              <a:rPr b="1" dirty="0">
                <a:latin typeface="Arial"/>
                <a:cs typeface="Arial"/>
              </a:rPr>
              <a:t>logic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gate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will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produce</a:t>
            </a:r>
            <a:r>
              <a:rPr b="1" i="1" spc="-2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as</a:t>
            </a:r>
            <a:r>
              <a:rPr b="1" i="1" spc="-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a</a:t>
            </a:r>
            <a:r>
              <a:rPr b="1" i="1" spc="-1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logic</a:t>
            </a:r>
            <a:r>
              <a:rPr b="1" i="1" spc="-4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1</a:t>
            </a:r>
            <a:r>
              <a:rPr b="1" i="1" spc="-5" dirty="0">
                <a:latin typeface="Arial"/>
                <a:cs typeface="Arial"/>
              </a:rPr>
              <a:t> </a:t>
            </a:r>
            <a:r>
              <a:rPr b="1" i="1" spc="-10" dirty="0">
                <a:latin typeface="Arial"/>
                <a:cs typeface="Arial"/>
              </a:rPr>
              <a:t>output</a:t>
            </a:r>
            <a:r>
              <a:rPr b="1" spc="-10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  <a:p>
            <a:pPr marL="768985" marR="17780" lvl="1" indent="-287020">
              <a:lnSpc>
                <a:spcPts val="3240"/>
              </a:lnSpc>
              <a:spcBef>
                <a:spcPts val="434"/>
              </a:spcBef>
              <a:buSzPct val="108333"/>
              <a:buFont typeface="Arial MT"/>
              <a:buChar char="–"/>
              <a:tabLst>
                <a:tab pos="768985" algn="l"/>
              </a:tabLst>
            </a:pPr>
            <a:r>
              <a:rPr b="1" dirty="0">
                <a:latin typeface="Arial"/>
                <a:cs typeface="Arial"/>
              </a:rPr>
              <a:t>V</a:t>
            </a:r>
            <a:r>
              <a:rPr b="1" baseline="-20833" dirty="0">
                <a:latin typeface="Arial"/>
                <a:cs typeface="Arial"/>
              </a:rPr>
              <a:t>IH</a:t>
            </a:r>
            <a:r>
              <a:rPr b="1" spc="195" baseline="-2083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(min),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high-</a:t>
            </a:r>
            <a:r>
              <a:rPr b="1" dirty="0">
                <a:latin typeface="Arial"/>
                <a:cs typeface="Arial"/>
              </a:rPr>
              <a:t>level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input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voltage,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minimum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voltage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level that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a </a:t>
            </a:r>
            <a:r>
              <a:rPr b="1" dirty="0">
                <a:latin typeface="Arial"/>
                <a:cs typeface="Arial"/>
              </a:rPr>
              <a:t>logic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gate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will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recognize</a:t>
            </a:r>
            <a:r>
              <a:rPr b="1" i="1" spc="-1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as</a:t>
            </a:r>
            <a:r>
              <a:rPr b="1" i="1" spc="-2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a</a:t>
            </a:r>
            <a:r>
              <a:rPr b="1" i="1" spc="-1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logic</a:t>
            </a:r>
            <a:r>
              <a:rPr b="1" i="1" spc="-2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1</a:t>
            </a:r>
            <a:r>
              <a:rPr b="1" i="1" spc="-1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input</a:t>
            </a:r>
            <a:r>
              <a:rPr b="1" dirty="0">
                <a:latin typeface="Arial"/>
                <a:cs typeface="Arial"/>
              </a:rPr>
              <a:t>.</a:t>
            </a:r>
            <a:r>
              <a:rPr b="1" spc="4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Voltage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below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this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level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will </a:t>
            </a:r>
            <a:r>
              <a:rPr b="1" dirty="0">
                <a:latin typeface="Arial"/>
                <a:cs typeface="Arial"/>
              </a:rPr>
              <a:t>not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be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accepted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high.</a:t>
            </a:r>
            <a:endParaRPr>
              <a:latin typeface="Arial"/>
              <a:cs typeface="Arial"/>
            </a:endParaRPr>
          </a:p>
          <a:p>
            <a:pPr marL="768985" marR="266065" lvl="1" indent="-287020">
              <a:lnSpc>
                <a:spcPct val="144900"/>
              </a:lnSpc>
              <a:spcBef>
                <a:spcPts val="25"/>
              </a:spcBef>
              <a:buSzPct val="108333"/>
              <a:buFont typeface="Arial MT"/>
              <a:buChar char="–"/>
              <a:tabLst>
                <a:tab pos="768985" algn="l"/>
              </a:tabLst>
            </a:pPr>
            <a:r>
              <a:rPr b="1" dirty="0">
                <a:latin typeface="Arial"/>
                <a:cs typeface="Arial"/>
              </a:rPr>
              <a:t>I</a:t>
            </a:r>
            <a:r>
              <a:rPr b="1" baseline="-20833" dirty="0">
                <a:latin typeface="Arial"/>
                <a:cs typeface="Arial"/>
              </a:rPr>
              <a:t>OH</a:t>
            </a:r>
            <a:r>
              <a:rPr b="1" dirty="0">
                <a:latin typeface="Arial"/>
                <a:cs typeface="Arial"/>
              </a:rPr>
              <a:t>,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high-</a:t>
            </a:r>
            <a:r>
              <a:rPr b="1" dirty="0">
                <a:latin typeface="Arial"/>
                <a:cs typeface="Arial"/>
              </a:rPr>
              <a:t>level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output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current,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current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that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flows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from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output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</a:t>
            </a:r>
            <a:r>
              <a:rPr b="1" spc="-25" dirty="0">
                <a:latin typeface="Arial"/>
                <a:cs typeface="Arial"/>
              </a:rPr>
              <a:t> the </a:t>
            </a:r>
            <a:r>
              <a:rPr b="1" dirty="0">
                <a:latin typeface="Arial"/>
                <a:cs typeface="Arial"/>
              </a:rPr>
              <a:t>logic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1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state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under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specified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load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conditions.</a:t>
            </a:r>
            <a:endParaRPr>
              <a:latin typeface="Arial"/>
              <a:cs typeface="Arial"/>
            </a:endParaRPr>
          </a:p>
          <a:p>
            <a:pPr marL="768985" lvl="1" indent="-286385">
              <a:spcBef>
                <a:spcPts val="1360"/>
              </a:spcBef>
              <a:buSzPct val="108333"/>
              <a:buFont typeface="Arial MT"/>
              <a:buChar char="–"/>
              <a:tabLst>
                <a:tab pos="768985" algn="l"/>
              </a:tabLst>
            </a:pPr>
            <a:r>
              <a:rPr b="1" dirty="0">
                <a:latin typeface="Arial"/>
                <a:cs typeface="Arial"/>
              </a:rPr>
              <a:t>I</a:t>
            </a:r>
            <a:r>
              <a:rPr b="1" baseline="-20833" dirty="0">
                <a:latin typeface="Arial"/>
                <a:cs typeface="Arial"/>
              </a:rPr>
              <a:t>IH</a:t>
            </a:r>
            <a:r>
              <a:rPr b="1" dirty="0">
                <a:latin typeface="Arial"/>
                <a:cs typeface="Arial"/>
              </a:rPr>
              <a:t>,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high-</a:t>
            </a:r>
            <a:r>
              <a:rPr b="1" dirty="0">
                <a:latin typeface="Arial"/>
                <a:cs typeface="Arial"/>
              </a:rPr>
              <a:t>level input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current,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current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that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flows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into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input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when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a</a:t>
            </a:r>
            <a:endParaRPr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6964" y="4748910"/>
            <a:ext cx="417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logic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1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voltage is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applied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to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that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input.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57092" y="80614"/>
            <a:ext cx="4471670" cy="69659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Voltage</a:t>
            </a:r>
            <a:r>
              <a:rPr spc="-120" dirty="0"/>
              <a:t>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10" dirty="0"/>
              <a:t>Current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243767" y="4928823"/>
            <a:ext cx="4376420" cy="1193800"/>
            <a:chOff x="4719767" y="4928823"/>
            <a:chExt cx="4376420" cy="1193800"/>
          </a:xfrm>
        </p:grpSpPr>
        <p:sp>
          <p:nvSpPr>
            <p:cNvPr id="7" name="object 7"/>
            <p:cNvSpPr/>
            <p:nvPr/>
          </p:nvSpPr>
          <p:spPr>
            <a:xfrm>
              <a:off x="5394493" y="5006230"/>
              <a:ext cx="622935" cy="659765"/>
            </a:xfrm>
            <a:custGeom>
              <a:avLst/>
              <a:gdLst/>
              <a:ahLst/>
              <a:cxnLst/>
              <a:rect l="l" t="t" r="r" b="b"/>
              <a:pathLst>
                <a:path w="622935" h="659764">
                  <a:moveTo>
                    <a:pt x="309687" y="0"/>
                  </a:moveTo>
                  <a:lnTo>
                    <a:pt x="390597" y="10293"/>
                  </a:lnTo>
                  <a:lnTo>
                    <a:pt x="466869" y="44845"/>
                  </a:lnTo>
                  <a:lnTo>
                    <a:pt x="531650" y="96328"/>
                  </a:lnTo>
                  <a:lnTo>
                    <a:pt x="578779" y="164758"/>
                  </a:lnTo>
                  <a:lnTo>
                    <a:pt x="612816" y="242161"/>
                  </a:lnTo>
                  <a:lnTo>
                    <a:pt x="622424" y="327853"/>
                  </a:lnTo>
                  <a:lnTo>
                    <a:pt x="612816" y="413887"/>
                  </a:lnTo>
                  <a:lnTo>
                    <a:pt x="578779" y="494617"/>
                  </a:lnTo>
                  <a:lnTo>
                    <a:pt x="531650" y="563047"/>
                  </a:lnTo>
                  <a:lnTo>
                    <a:pt x="466869" y="612867"/>
                  </a:lnTo>
                  <a:lnTo>
                    <a:pt x="390597" y="649081"/>
                  </a:lnTo>
                  <a:lnTo>
                    <a:pt x="309687" y="659375"/>
                  </a:lnTo>
                  <a:lnTo>
                    <a:pt x="0" y="659375"/>
                  </a:lnTo>
                  <a:lnTo>
                    <a:pt x="0" y="0"/>
                  </a:lnTo>
                  <a:lnTo>
                    <a:pt x="309687" y="0"/>
                  </a:lnTo>
                </a:path>
              </a:pathLst>
            </a:custGeom>
            <a:ln w="26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5082" y="5219279"/>
              <a:ext cx="185976" cy="19541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43307" y="4935808"/>
              <a:ext cx="3698240" cy="699135"/>
            </a:xfrm>
            <a:custGeom>
              <a:avLst/>
              <a:gdLst/>
              <a:ahLst/>
              <a:cxnLst/>
              <a:rect l="l" t="t" r="r" b="b"/>
              <a:pathLst>
                <a:path w="3698240" h="699135">
                  <a:moveTo>
                    <a:pt x="541578" y="223223"/>
                  </a:moveTo>
                  <a:lnTo>
                    <a:pt x="3420" y="223223"/>
                  </a:lnTo>
                </a:path>
                <a:path w="3698240" h="699135">
                  <a:moveTo>
                    <a:pt x="538171" y="581971"/>
                  </a:moveTo>
                  <a:lnTo>
                    <a:pt x="0" y="581971"/>
                  </a:lnTo>
                </a:path>
                <a:path w="3698240" h="699135">
                  <a:moveTo>
                    <a:pt x="1890087" y="376024"/>
                  </a:moveTo>
                  <a:lnTo>
                    <a:pt x="1351928" y="376024"/>
                  </a:lnTo>
                </a:path>
                <a:path w="3698240" h="699135">
                  <a:moveTo>
                    <a:pt x="2947188" y="0"/>
                  </a:moveTo>
                  <a:lnTo>
                    <a:pt x="3694281" y="345128"/>
                  </a:lnTo>
                </a:path>
                <a:path w="3698240" h="699135">
                  <a:moveTo>
                    <a:pt x="2950262" y="698902"/>
                  </a:moveTo>
                  <a:lnTo>
                    <a:pt x="3697740" y="353773"/>
                  </a:lnTo>
                </a:path>
                <a:path w="3698240" h="699135">
                  <a:moveTo>
                    <a:pt x="2948725" y="1992"/>
                  </a:moveTo>
                  <a:lnTo>
                    <a:pt x="2948725" y="693583"/>
                  </a:lnTo>
                </a:path>
              </a:pathLst>
            </a:custGeom>
            <a:ln w="13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9477" y="5178090"/>
              <a:ext cx="185718" cy="19541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49791" y="5275962"/>
              <a:ext cx="2339340" cy="26034"/>
            </a:xfrm>
            <a:custGeom>
              <a:avLst/>
              <a:gdLst/>
              <a:ahLst/>
              <a:cxnLst/>
              <a:rect l="l" t="t" r="r" b="b"/>
              <a:pathLst>
                <a:path w="2339340" h="26035">
                  <a:moveTo>
                    <a:pt x="1953305" y="0"/>
                  </a:moveTo>
                  <a:lnTo>
                    <a:pt x="2339022" y="0"/>
                  </a:lnTo>
                </a:path>
                <a:path w="2339340" h="26035">
                  <a:moveTo>
                    <a:pt x="645123" y="25576"/>
                  </a:moveTo>
                  <a:lnTo>
                    <a:pt x="1030840" y="25576"/>
                  </a:lnTo>
                </a:path>
                <a:path w="2339340" h="26035">
                  <a:moveTo>
                    <a:pt x="0" y="23913"/>
                  </a:moveTo>
                  <a:lnTo>
                    <a:pt x="630520" y="23913"/>
                  </a:lnTo>
                </a:path>
              </a:pathLst>
            </a:custGeom>
            <a:ln w="13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2742" y="5255478"/>
              <a:ext cx="108221" cy="1127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04762" y="5231566"/>
              <a:ext cx="107833" cy="1127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726752" y="5159032"/>
              <a:ext cx="3540760" cy="956944"/>
            </a:xfrm>
            <a:custGeom>
              <a:avLst/>
              <a:gdLst/>
              <a:ahLst/>
              <a:cxnLst/>
              <a:rect l="l" t="t" r="r" b="b"/>
              <a:pathLst>
                <a:path w="3540759" h="956945">
                  <a:moveTo>
                    <a:pt x="116555" y="0"/>
                  </a:moveTo>
                  <a:lnTo>
                    <a:pt x="116555" y="954348"/>
                  </a:lnTo>
                </a:path>
                <a:path w="3540759" h="956945">
                  <a:moveTo>
                    <a:pt x="116555" y="708866"/>
                  </a:moveTo>
                  <a:lnTo>
                    <a:pt x="3540156" y="708866"/>
                  </a:lnTo>
                </a:path>
                <a:path w="3540759" h="956945">
                  <a:moveTo>
                    <a:pt x="3540156" y="708866"/>
                  </a:moveTo>
                  <a:lnTo>
                    <a:pt x="3540156" y="264412"/>
                  </a:lnTo>
                </a:path>
                <a:path w="3540759" h="956945">
                  <a:moveTo>
                    <a:pt x="872039" y="494274"/>
                  </a:moveTo>
                  <a:lnTo>
                    <a:pt x="872039" y="700565"/>
                  </a:lnTo>
                </a:path>
                <a:path w="3540759" h="956945">
                  <a:moveTo>
                    <a:pt x="0" y="956341"/>
                  </a:moveTo>
                  <a:lnTo>
                    <a:pt x="241493" y="956341"/>
                  </a:lnTo>
                </a:path>
              </a:pathLst>
            </a:custGeom>
            <a:ln w="13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609121" y="5935677"/>
            <a:ext cx="576580" cy="2455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spcBef>
                <a:spcPts val="114"/>
              </a:spcBef>
            </a:pPr>
            <a:r>
              <a:rPr sz="1500" spc="-40" dirty="0">
                <a:latin typeface="Times New Roman"/>
                <a:cs typeface="Times New Roman"/>
              </a:rPr>
              <a:t>Ground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83891" y="5515085"/>
            <a:ext cx="399415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2925" spc="-37" baseline="17094" dirty="0">
                <a:latin typeface="Times New Roman"/>
                <a:cs typeface="Times New Roman"/>
              </a:rPr>
              <a:t>V</a:t>
            </a:r>
            <a:r>
              <a:rPr sz="1300" spc="-25" dirty="0">
                <a:latin typeface="Times New Roman"/>
                <a:cs typeface="Times New Roman"/>
              </a:rPr>
              <a:t>IH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16749" y="5477552"/>
            <a:ext cx="465455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2925" spc="-37" baseline="15669" dirty="0">
                <a:latin typeface="Times New Roman"/>
                <a:cs typeface="Times New Roman"/>
              </a:rPr>
              <a:t>V</a:t>
            </a:r>
            <a:r>
              <a:rPr sz="1300" spc="-25" dirty="0">
                <a:latin typeface="Times New Roman"/>
                <a:cs typeface="Times New Roman"/>
              </a:rPr>
              <a:t>OH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71334" y="4751410"/>
            <a:ext cx="1669414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spcBef>
                <a:spcPts val="95"/>
              </a:spcBef>
              <a:tabLst>
                <a:tab pos="1350010" algn="l"/>
              </a:tabLst>
            </a:pPr>
            <a:r>
              <a:rPr sz="2925" spc="-82" baseline="11396" dirty="0">
                <a:latin typeface="Times New Roman"/>
                <a:cs typeface="Times New Roman"/>
              </a:rPr>
              <a:t>I</a:t>
            </a:r>
            <a:r>
              <a:rPr sz="2925" spc="-315" baseline="11396" dirty="0">
                <a:latin typeface="Times New Roman"/>
                <a:cs typeface="Times New Roman"/>
              </a:rPr>
              <a:t> </a:t>
            </a:r>
            <a:r>
              <a:rPr sz="1950" spc="-37" baseline="4273" dirty="0">
                <a:latin typeface="Times New Roman"/>
                <a:cs typeface="Times New Roman"/>
              </a:rPr>
              <a:t>OH</a:t>
            </a:r>
            <a:r>
              <a:rPr sz="1950" baseline="4273" dirty="0">
                <a:latin typeface="Times New Roman"/>
                <a:cs typeface="Times New Roman"/>
              </a:rPr>
              <a:t>	</a:t>
            </a:r>
            <a:r>
              <a:rPr sz="2925" spc="-82" baseline="18518" dirty="0">
                <a:latin typeface="Times New Roman"/>
                <a:cs typeface="Times New Roman"/>
              </a:rPr>
              <a:t>I</a:t>
            </a:r>
            <a:r>
              <a:rPr sz="2925" spc="-330" baseline="18518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IH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806986" y="5085284"/>
            <a:ext cx="1407160" cy="683895"/>
          </a:xfrm>
          <a:custGeom>
            <a:avLst/>
            <a:gdLst/>
            <a:ahLst/>
            <a:cxnLst/>
            <a:rect l="l" t="t" r="r" b="b"/>
            <a:pathLst>
              <a:path w="1407159" h="683895">
                <a:moveTo>
                  <a:pt x="0" y="106306"/>
                </a:moveTo>
                <a:lnTo>
                  <a:pt x="272217" y="106306"/>
                </a:lnTo>
              </a:path>
              <a:path w="1407159" h="683895">
                <a:moveTo>
                  <a:pt x="296685" y="108299"/>
                </a:moveTo>
                <a:lnTo>
                  <a:pt x="202401" y="34221"/>
                </a:lnTo>
              </a:path>
              <a:path w="1407159" h="683895">
                <a:moveTo>
                  <a:pt x="294763" y="106306"/>
                </a:moveTo>
                <a:lnTo>
                  <a:pt x="200864" y="180370"/>
                </a:lnTo>
              </a:path>
              <a:path w="1407159" h="683895">
                <a:moveTo>
                  <a:pt x="1110391" y="72085"/>
                </a:moveTo>
                <a:lnTo>
                  <a:pt x="1382609" y="72085"/>
                </a:lnTo>
              </a:path>
              <a:path w="1407159" h="683895">
                <a:moveTo>
                  <a:pt x="1406820" y="73748"/>
                </a:moveTo>
                <a:lnTo>
                  <a:pt x="1312793" y="0"/>
                </a:lnTo>
              </a:path>
              <a:path w="1407159" h="683895">
                <a:moveTo>
                  <a:pt x="1405155" y="72085"/>
                </a:moveTo>
                <a:lnTo>
                  <a:pt x="1311256" y="145833"/>
                </a:lnTo>
              </a:path>
              <a:path w="1407159" h="683895">
                <a:moveTo>
                  <a:pt x="465011" y="683289"/>
                </a:moveTo>
                <a:lnTo>
                  <a:pt x="465011" y="394963"/>
                </a:lnTo>
              </a:path>
              <a:path w="1407159" h="683895">
                <a:moveTo>
                  <a:pt x="466805" y="369056"/>
                </a:moveTo>
                <a:lnTo>
                  <a:pt x="397117" y="468711"/>
                </a:lnTo>
              </a:path>
              <a:path w="1407159" h="683895">
                <a:moveTo>
                  <a:pt x="465011" y="370719"/>
                </a:moveTo>
                <a:lnTo>
                  <a:pt x="534699" y="470374"/>
                </a:lnTo>
              </a:path>
              <a:path w="1407159" h="683895">
                <a:moveTo>
                  <a:pt x="977421" y="681640"/>
                </a:moveTo>
                <a:lnTo>
                  <a:pt x="977421" y="392970"/>
                </a:lnTo>
              </a:path>
              <a:path w="1407159" h="683895">
                <a:moveTo>
                  <a:pt x="978958" y="367393"/>
                </a:moveTo>
                <a:lnTo>
                  <a:pt x="909271" y="467048"/>
                </a:lnTo>
              </a:path>
              <a:path w="1407159" h="683895">
                <a:moveTo>
                  <a:pt x="977421" y="369056"/>
                </a:moveTo>
                <a:lnTo>
                  <a:pt x="1047109" y="468711"/>
                </a:lnTo>
              </a:path>
            </a:pathLst>
          </a:custGeom>
          <a:ln w="134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59480" y="5201539"/>
            <a:ext cx="140017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pc="-35" dirty="0">
                <a:solidFill>
                  <a:srgbClr val="CC0000"/>
                </a:solidFill>
                <a:latin typeface="Arial MT"/>
                <a:cs typeface="Arial MT"/>
              </a:rPr>
              <a:t>Test</a:t>
            </a:r>
            <a:r>
              <a:rPr spc="-4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CC0000"/>
                </a:solidFill>
                <a:latin typeface="Arial MT"/>
                <a:cs typeface="Arial MT"/>
              </a:rPr>
              <a:t>setup</a:t>
            </a:r>
            <a:r>
              <a:rPr spc="-5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CC0000"/>
                </a:solidFill>
                <a:latin typeface="Arial MT"/>
                <a:cs typeface="Arial MT"/>
              </a:rPr>
              <a:t>for </a:t>
            </a:r>
            <a:r>
              <a:rPr spc="-10" dirty="0">
                <a:solidFill>
                  <a:srgbClr val="CC0000"/>
                </a:solidFill>
                <a:latin typeface="Arial MT"/>
                <a:cs typeface="Arial MT"/>
              </a:rPr>
              <a:t>measuring values</a:t>
            </a:r>
            <a:endParaRPr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678B09DD-0D50-4010-84D9-AE7A5B315A6F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7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552347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9126" y="665849"/>
            <a:ext cx="8782685" cy="441198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367665" indent="-342265">
              <a:spcBef>
                <a:spcPts val="1250"/>
              </a:spcBef>
              <a:buFont typeface="Arial MT"/>
              <a:buChar char="•"/>
              <a:tabLst>
                <a:tab pos="367665" algn="l"/>
              </a:tabLst>
            </a:pP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Low-state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gate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driving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second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gate,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define:</a:t>
            </a:r>
            <a:endParaRPr sz="2400">
              <a:latin typeface="Arial"/>
              <a:cs typeface="Arial"/>
            </a:endParaRPr>
          </a:p>
          <a:p>
            <a:pPr marL="768985" marR="530225" lvl="1" indent="-287020">
              <a:lnSpc>
                <a:spcPts val="3240"/>
              </a:lnSpc>
              <a:spcBef>
                <a:spcPts val="335"/>
              </a:spcBef>
              <a:buSzPct val="108333"/>
              <a:buFont typeface="Arial MT"/>
              <a:buChar char="–"/>
              <a:tabLst>
                <a:tab pos="768985" algn="l"/>
              </a:tabLst>
            </a:pPr>
            <a:r>
              <a:rPr b="1" dirty="0">
                <a:latin typeface="Arial"/>
                <a:cs typeface="Arial"/>
              </a:rPr>
              <a:t>V</a:t>
            </a:r>
            <a:r>
              <a:rPr b="1" baseline="-20833" dirty="0">
                <a:latin typeface="Arial"/>
                <a:cs typeface="Arial"/>
              </a:rPr>
              <a:t>OL</a:t>
            </a:r>
            <a:r>
              <a:rPr b="1" spc="195" baseline="-2083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(max),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low-level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output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voltage,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maximum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voltage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level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that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a </a:t>
            </a:r>
            <a:r>
              <a:rPr b="1" dirty="0">
                <a:latin typeface="Arial"/>
                <a:cs typeface="Arial"/>
              </a:rPr>
              <a:t>logic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gate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will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produce</a:t>
            </a:r>
            <a:r>
              <a:rPr b="1" i="1" spc="-2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as</a:t>
            </a:r>
            <a:r>
              <a:rPr b="1" i="1" spc="-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a</a:t>
            </a:r>
            <a:r>
              <a:rPr b="1" i="1" spc="-1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logic</a:t>
            </a:r>
            <a:r>
              <a:rPr b="1" i="1" spc="-4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0</a:t>
            </a:r>
            <a:r>
              <a:rPr b="1" i="1" spc="-5" dirty="0">
                <a:latin typeface="Arial"/>
                <a:cs typeface="Arial"/>
              </a:rPr>
              <a:t> </a:t>
            </a:r>
            <a:r>
              <a:rPr b="1" i="1" spc="-10" dirty="0">
                <a:latin typeface="Arial"/>
                <a:cs typeface="Arial"/>
              </a:rPr>
              <a:t>output</a:t>
            </a:r>
            <a:r>
              <a:rPr b="1" spc="-10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  <a:p>
            <a:pPr marL="768985" lvl="1" indent="-286385">
              <a:spcBef>
                <a:spcPts val="1075"/>
              </a:spcBef>
              <a:buSzPct val="108333"/>
              <a:buFont typeface="Arial MT"/>
              <a:buChar char="–"/>
              <a:tabLst>
                <a:tab pos="768985" algn="l"/>
              </a:tabLst>
            </a:pPr>
            <a:r>
              <a:rPr b="1" dirty="0">
                <a:latin typeface="Arial"/>
                <a:cs typeface="Arial"/>
              </a:rPr>
              <a:t>V</a:t>
            </a:r>
            <a:r>
              <a:rPr b="1" baseline="-20833" dirty="0">
                <a:latin typeface="Arial"/>
                <a:cs typeface="Arial"/>
              </a:rPr>
              <a:t>IL</a:t>
            </a:r>
            <a:r>
              <a:rPr b="1" spc="195" baseline="-2083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(max),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low-level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input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voltage,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maximum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voltage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level that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logic</a:t>
            </a:r>
            <a:endParaRPr>
              <a:latin typeface="Arial"/>
              <a:cs typeface="Arial"/>
            </a:endParaRPr>
          </a:p>
          <a:p>
            <a:pPr marL="768985" marR="17780">
              <a:lnSpc>
                <a:spcPts val="3240"/>
              </a:lnSpc>
              <a:spcBef>
                <a:spcPts val="259"/>
              </a:spcBef>
            </a:pPr>
            <a:r>
              <a:rPr b="1" dirty="0">
                <a:latin typeface="Arial"/>
                <a:cs typeface="Arial"/>
              </a:rPr>
              <a:t>gate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will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recognize</a:t>
            </a:r>
            <a:r>
              <a:rPr b="1" i="1" spc="-1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as</a:t>
            </a:r>
            <a:r>
              <a:rPr b="1" i="1" spc="-2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a</a:t>
            </a:r>
            <a:r>
              <a:rPr b="1" i="1" spc="-1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logic</a:t>
            </a:r>
            <a:r>
              <a:rPr b="1" i="1" spc="-2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0</a:t>
            </a:r>
            <a:r>
              <a:rPr b="1" i="1" spc="-1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input</a:t>
            </a:r>
            <a:r>
              <a:rPr b="1" dirty="0">
                <a:latin typeface="Arial"/>
                <a:cs typeface="Arial"/>
              </a:rPr>
              <a:t>.</a:t>
            </a:r>
            <a:r>
              <a:rPr b="1" spc="4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Voltage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above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this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value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will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not</a:t>
            </a:r>
            <a:r>
              <a:rPr b="1" spc="-25" dirty="0">
                <a:latin typeface="Arial"/>
                <a:cs typeface="Arial"/>
              </a:rPr>
              <a:t> be </a:t>
            </a:r>
            <a:r>
              <a:rPr b="1" dirty="0">
                <a:latin typeface="Arial"/>
                <a:cs typeface="Arial"/>
              </a:rPr>
              <a:t>accepted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as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low.</a:t>
            </a:r>
            <a:endParaRPr>
              <a:latin typeface="Arial"/>
              <a:cs typeface="Arial"/>
            </a:endParaRPr>
          </a:p>
          <a:p>
            <a:pPr marL="768985" lvl="1" indent="-286385">
              <a:spcBef>
                <a:spcPts val="1070"/>
              </a:spcBef>
              <a:buSzPct val="108333"/>
              <a:buFont typeface="Arial MT"/>
              <a:buChar char="–"/>
              <a:tabLst>
                <a:tab pos="768985" algn="l"/>
              </a:tabLst>
            </a:pPr>
            <a:r>
              <a:rPr b="1" dirty="0">
                <a:latin typeface="Arial"/>
                <a:cs typeface="Arial"/>
              </a:rPr>
              <a:t>I</a:t>
            </a:r>
            <a:r>
              <a:rPr b="1" baseline="-20833" dirty="0">
                <a:latin typeface="Arial"/>
                <a:cs typeface="Arial"/>
              </a:rPr>
              <a:t>OL</a:t>
            </a:r>
            <a:r>
              <a:rPr b="1" spc="-22" baseline="-2083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,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low-level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output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current,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current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that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flows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from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output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</a:t>
            </a:r>
            <a:r>
              <a:rPr b="1" spc="-25" dirty="0">
                <a:latin typeface="Arial"/>
                <a:cs typeface="Arial"/>
              </a:rPr>
              <a:t> the</a:t>
            </a:r>
            <a:endParaRPr>
              <a:latin typeface="Arial"/>
              <a:cs typeface="Arial"/>
            </a:endParaRPr>
          </a:p>
          <a:p>
            <a:pPr marL="768985">
              <a:spcBef>
                <a:spcPts val="1050"/>
              </a:spcBef>
            </a:pPr>
            <a:r>
              <a:rPr b="1" dirty="0">
                <a:latin typeface="Arial"/>
                <a:cs typeface="Arial"/>
              </a:rPr>
              <a:t>logic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0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state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under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specified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load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conditions.</a:t>
            </a:r>
            <a:endParaRPr>
              <a:latin typeface="Arial"/>
              <a:cs typeface="Arial"/>
            </a:endParaRPr>
          </a:p>
          <a:p>
            <a:pPr marL="768985" marR="94615" lvl="1" indent="-287020">
              <a:lnSpc>
                <a:spcPct val="144900"/>
              </a:lnSpc>
              <a:spcBef>
                <a:spcPts val="315"/>
              </a:spcBef>
              <a:buSzPct val="108333"/>
              <a:buFont typeface="Arial MT"/>
              <a:buChar char="–"/>
              <a:tabLst>
                <a:tab pos="768985" algn="l"/>
              </a:tabLst>
            </a:pPr>
            <a:r>
              <a:rPr b="1" dirty="0">
                <a:latin typeface="Arial"/>
                <a:cs typeface="Arial"/>
              </a:rPr>
              <a:t>I</a:t>
            </a:r>
            <a:r>
              <a:rPr b="1" baseline="-20833" dirty="0">
                <a:latin typeface="Arial"/>
                <a:cs typeface="Arial"/>
              </a:rPr>
              <a:t>IL</a:t>
            </a:r>
            <a:r>
              <a:rPr b="1" spc="-22" baseline="-2083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,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low-level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input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current,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current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that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flows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into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input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when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logic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0 </a:t>
            </a:r>
            <a:r>
              <a:rPr b="1" dirty="0">
                <a:latin typeface="Arial"/>
                <a:cs typeface="Arial"/>
              </a:rPr>
              <a:t>voltage is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applied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to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that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input.</a:t>
            </a:r>
            <a:endParaRPr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25342" y="109695"/>
            <a:ext cx="447167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Voltage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10" dirty="0"/>
              <a:t>Current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59480" y="5201539"/>
            <a:ext cx="2259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598295" algn="l"/>
                <a:tab pos="2246630" algn="l"/>
              </a:tabLst>
            </a:pPr>
            <a:r>
              <a:rPr dirty="0">
                <a:solidFill>
                  <a:srgbClr val="CC0000"/>
                </a:solidFill>
                <a:latin typeface="Arial MT"/>
                <a:cs typeface="Arial MT"/>
              </a:rPr>
              <a:t>Inputs </a:t>
            </a:r>
            <a:r>
              <a:rPr spc="-25" dirty="0">
                <a:solidFill>
                  <a:srgbClr val="CC0000"/>
                </a:solidFill>
                <a:latin typeface="Arial MT"/>
                <a:cs typeface="Arial MT"/>
              </a:rPr>
              <a:t>are</a:t>
            </a:r>
            <a:r>
              <a:rPr dirty="0">
                <a:solidFill>
                  <a:srgbClr val="CC0000"/>
                </a:solidFill>
                <a:latin typeface="Arial MT"/>
                <a:cs typeface="Arial MT"/>
              </a:rPr>
              <a:t>	</a:t>
            </a:r>
            <a:r>
              <a:rPr u="sng" dirty="0">
                <a:solidFill>
                  <a:srgbClr val="CC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4080" y="5448401"/>
            <a:ext cx="1753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dirty="0">
                <a:solidFill>
                  <a:srgbClr val="CC0000"/>
                </a:solidFill>
                <a:latin typeface="Arial MT"/>
                <a:cs typeface="Arial MT"/>
              </a:rPr>
              <a:t>connected</a:t>
            </a:r>
            <a:r>
              <a:rPr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CC0000"/>
                </a:solidFill>
                <a:latin typeface="Arial MT"/>
                <a:cs typeface="Arial MT"/>
              </a:rPr>
              <a:t>to</a:t>
            </a:r>
            <a:r>
              <a:rPr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CC0000"/>
                </a:solidFill>
                <a:latin typeface="Arial MT"/>
                <a:cs typeface="Arial MT"/>
              </a:rPr>
              <a:t>V</a:t>
            </a:r>
            <a:r>
              <a:rPr spc="-37" baseline="-20833" dirty="0">
                <a:solidFill>
                  <a:srgbClr val="CC0000"/>
                </a:solidFill>
                <a:latin typeface="Arial MT"/>
                <a:cs typeface="Arial MT"/>
              </a:rPr>
              <a:t>cc</a:t>
            </a:r>
            <a:endParaRPr baseline="-20833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9479" y="5694984"/>
            <a:ext cx="1018540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</a:pPr>
            <a:r>
              <a:rPr dirty="0">
                <a:solidFill>
                  <a:srgbClr val="CC0000"/>
                </a:solidFill>
                <a:latin typeface="Arial MT"/>
                <a:cs typeface="Arial MT"/>
              </a:rPr>
              <a:t>instead</a:t>
            </a:r>
            <a:r>
              <a:rPr spc="-4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CC0000"/>
                </a:solidFill>
                <a:latin typeface="Arial MT"/>
                <a:cs typeface="Arial MT"/>
              </a:rPr>
              <a:t>of</a:t>
            </a:r>
            <a:endParaRPr>
              <a:latin typeface="Arial MT"/>
              <a:cs typeface="Arial MT"/>
            </a:endParaRPr>
          </a:p>
          <a:p>
            <a:pPr marL="12700">
              <a:lnSpc>
                <a:spcPts val="2055"/>
              </a:lnSpc>
            </a:pPr>
            <a:r>
              <a:rPr spc="-10" dirty="0">
                <a:solidFill>
                  <a:srgbClr val="CC0000"/>
                </a:solidFill>
                <a:latin typeface="Arial MT"/>
                <a:cs typeface="Arial MT"/>
              </a:rPr>
              <a:t>Ground</a:t>
            </a:r>
            <a:endParaRPr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31409" y="5250054"/>
            <a:ext cx="4668520" cy="1189355"/>
            <a:chOff x="3907409" y="5250053"/>
            <a:chExt cx="4668520" cy="1189355"/>
          </a:xfrm>
        </p:grpSpPr>
        <p:sp>
          <p:nvSpPr>
            <p:cNvPr id="9" name="object 9"/>
            <p:cNvSpPr/>
            <p:nvPr/>
          </p:nvSpPr>
          <p:spPr>
            <a:xfrm>
              <a:off x="4626102" y="5327142"/>
              <a:ext cx="664845" cy="655320"/>
            </a:xfrm>
            <a:custGeom>
              <a:avLst/>
              <a:gdLst/>
              <a:ahLst/>
              <a:cxnLst/>
              <a:rect l="l" t="t" r="r" b="b"/>
              <a:pathLst>
                <a:path w="664845" h="655320">
                  <a:moveTo>
                    <a:pt x="330581" y="0"/>
                  </a:moveTo>
                  <a:lnTo>
                    <a:pt x="416433" y="11049"/>
                  </a:lnTo>
                  <a:lnTo>
                    <a:pt x="499110" y="44450"/>
                  </a:lnTo>
                  <a:lnTo>
                    <a:pt x="567436" y="95250"/>
                  </a:lnTo>
                  <a:lnTo>
                    <a:pt x="618363" y="163449"/>
                  </a:lnTo>
                  <a:lnTo>
                    <a:pt x="654938" y="241173"/>
                  </a:lnTo>
                  <a:lnTo>
                    <a:pt x="664463" y="326859"/>
                  </a:lnTo>
                  <a:lnTo>
                    <a:pt x="654938" y="410959"/>
                  </a:lnTo>
                  <a:lnTo>
                    <a:pt x="618363" y="491883"/>
                  </a:lnTo>
                  <a:lnTo>
                    <a:pt x="567436" y="560120"/>
                  </a:lnTo>
                  <a:lnTo>
                    <a:pt x="499110" y="609307"/>
                  </a:lnTo>
                  <a:lnTo>
                    <a:pt x="416433" y="645795"/>
                  </a:lnTo>
                  <a:lnTo>
                    <a:pt x="330581" y="655320"/>
                  </a:lnTo>
                  <a:lnTo>
                    <a:pt x="0" y="655320"/>
                  </a:lnTo>
                  <a:lnTo>
                    <a:pt x="0" y="0"/>
                  </a:lnTo>
                  <a:lnTo>
                    <a:pt x="330581" y="0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1328" y="5551932"/>
              <a:ext cx="181356" cy="17830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37838" y="5257038"/>
              <a:ext cx="3947160" cy="695325"/>
            </a:xfrm>
            <a:custGeom>
              <a:avLst/>
              <a:gdLst/>
              <a:ahLst/>
              <a:cxnLst/>
              <a:rect l="l" t="t" r="r" b="b"/>
              <a:pathLst>
                <a:path w="3947159" h="695325">
                  <a:moveTo>
                    <a:pt x="574548" y="579120"/>
                  </a:moveTo>
                  <a:lnTo>
                    <a:pt x="0" y="580644"/>
                  </a:lnTo>
                </a:path>
                <a:path w="3947159" h="695325">
                  <a:moveTo>
                    <a:pt x="2017776" y="374903"/>
                  </a:moveTo>
                  <a:lnTo>
                    <a:pt x="1443227" y="376428"/>
                  </a:lnTo>
                </a:path>
                <a:path w="3947159" h="695325">
                  <a:moveTo>
                    <a:pt x="3145536" y="0"/>
                  </a:moveTo>
                  <a:lnTo>
                    <a:pt x="3942588" y="342900"/>
                  </a:lnTo>
                </a:path>
                <a:path w="3947159" h="695325">
                  <a:moveTo>
                    <a:pt x="3150108" y="694944"/>
                  </a:moveTo>
                  <a:lnTo>
                    <a:pt x="3947160" y="352044"/>
                  </a:lnTo>
                </a:path>
                <a:path w="3947159" h="695325">
                  <a:moveTo>
                    <a:pt x="3147060" y="1524"/>
                  </a:moveTo>
                  <a:lnTo>
                    <a:pt x="3148584" y="688848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73568" y="5510784"/>
              <a:ext cx="182879" cy="17830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072378" y="5595366"/>
              <a:ext cx="2496820" cy="27940"/>
            </a:xfrm>
            <a:custGeom>
              <a:avLst/>
              <a:gdLst/>
              <a:ahLst/>
              <a:cxnLst/>
              <a:rect l="l" t="t" r="r" b="b"/>
              <a:pathLst>
                <a:path w="2496820" h="27939">
                  <a:moveTo>
                    <a:pt x="2084831" y="0"/>
                  </a:moveTo>
                  <a:lnTo>
                    <a:pt x="2496312" y="1524"/>
                  </a:lnTo>
                </a:path>
                <a:path w="2496820" h="27939">
                  <a:moveTo>
                    <a:pt x="687324" y="25908"/>
                  </a:moveTo>
                  <a:lnTo>
                    <a:pt x="1100327" y="27432"/>
                  </a:lnTo>
                </a:path>
                <a:path w="2496820" h="27939">
                  <a:moveTo>
                    <a:pt x="0" y="22860"/>
                  </a:moveTo>
                  <a:lnTo>
                    <a:pt x="673607" y="25908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5228" y="5588508"/>
              <a:ext cx="97536" cy="960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3012" y="5564124"/>
              <a:ext cx="97535" cy="960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914394" y="5741670"/>
              <a:ext cx="3779520" cy="690880"/>
            </a:xfrm>
            <a:custGeom>
              <a:avLst/>
              <a:gdLst/>
              <a:ahLst/>
              <a:cxnLst/>
              <a:rect l="l" t="t" r="r" b="b"/>
              <a:pathLst>
                <a:path w="3779520" h="690879">
                  <a:moveTo>
                    <a:pt x="124967" y="431291"/>
                  </a:moveTo>
                  <a:lnTo>
                    <a:pt x="124967" y="687323"/>
                  </a:lnTo>
                </a:path>
                <a:path w="3779520" h="690879">
                  <a:moveTo>
                    <a:pt x="123443" y="441959"/>
                  </a:moveTo>
                  <a:lnTo>
                    <a:pt x="3777996" y="443483"/>
                  </a:lnTo>
                </a:path>
                <a:path w="3779520" h="690879">
                  <a:moveTo>
                    <a:pt x="3777996" y="441959"/>
                  </a:moveTo>
                  <a:lnTo>
                    <a:pt x="3779520" y="0"/>
                  </a:lnTo>
                </a:path>
                <a:path w="3779520" h="690879">
                  <a:moveTo>
                    <a:pt x="929639" y="230123"/>
                  </a:moveTo>
                  <a:lnTo>
                    <a:pt x="931163" y="434339"/>
                  </a:lnTo>
                </a:path>
                <a:path w="3779520" h="690879">
                  <a:moveTo>
                    <a:pt x="0" y="688847"/>
                  </a:moveTo>
                  <a:lnTo>
                    <a:pt x="256031" y="690371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270240" y="5929071"/>
            <a:ext cx="3759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5"/>
              </a:lnSpc>
            </a:pPr>
            <a:r>
              <a:rPr sz="2850" baseline="16081" dirty="0">
                <a:latin typeface="Arial MT"/>
                <a:cs typeface="Arial MT"/>
              </a:rPr>
              <a:t>V</a:t>
            </a:r>
            <a:r>
              <a:rPr sz="2850" spc="-179" baseline="16081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IL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23862" y="5890971"/>
            <a:ext cx="4552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5"/>
              </a:lnSpc>
            </a:pPr>
            <a:r>
              <a:rPr sz="2850" baseline="14619" dirty="0">
                <a:latin typeface="Arial MT"/>
                <a:cs typeface="Arial MT"/>
              </a:rPr>
              <a:t>V</a:t>
            </a:r>
            <a:r>
              <a:rPr sz="2850" spc="-217" baseline="14619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OL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49237" y="5092141"/>
            <a:ext cx="177609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spcBef>
                <a:spcPts val="95"/>
              </a:spcBef>
              <a:tabLst>
                <a:tab pos="1438275" algn="l"/>
              </a:tabLst>
            </a:pPr>
            <a:r>
              <a:rPr sz="2850" baseline="11695" dirty="0">
                <a:latin typeface="Arial MT"/>
                <a:cs typeface="Arial MT"/>
              </a:rPr>
              <a:t>I</a:t>
            </a:r>
            <a:r>
              <a:rPr sz="2850" spc="232" baseline="11695" dirty="0">
                <a:latin typeface="Arial MT"/>
                <a:cs typeface="Arial MT"/>
              </a:rPr>
              <a:t> </a:t>
            </a:r>
            <a:r>
              <a:rPr sz="1950" spc="-52" baseline="2136" dirty="0">
                <a:latin typeface="Arial MT"/>
                <a:cs typeface="Arial MT"/>
              </a:rPr>
              <a:t>OL</a:t>
            </a:r>
            <a:r>
              <a:rPr sz="1950" baseline="2136" dirty="0">
                <a:latin typeface="Arial MT"/>
                <a:cs typeface="Arial MT"/>
              </a:rPr>
              <a:t>	</a:t>
            </a:r>
            <a:r>
              <a:rPr sz="2850" baseline="19005" dirty="0">
                <a:latin typeface="Arial MT"/>
                <a:cs typeface="Arial MT"/>
              </a:rPr>
              <a:t>I</a:t>
            </a:r>
            <a:r>
              <a:rPr sz="2850" spc="172" baseline="19005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IL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98030" y="5406391"/>
            <a:ext cx="1503045" cy="680085"/>
          </a:xfrm>
          <a:custGeom>
            <a:avLst/>
            <a:gdLst/>
            <a:ahLst/>
            <a:cxnLst/>
            <a:rect l="l" t="t" r="r" b="b"/>
            <a:pathLst>
              <a:path w="1503045" h="680085">
                <a:moveTo>
                  <a:pt x="0" y="105156"/>
                </a:moveTo>
                <a:lnTo>
                  <a:pt x="291084" y="106680"/>
                </a:lnTo>
              </a:path>
              <a:path w="1503045" h="680085">
                <a:moveTo>
                  <a:pt x="316992" y="106680"/>
                </a:moveTo>
                <a:lnTo>
                  <a:pt x="216408" y="33528"/>
                </a:lnTo>
              </a:path>
              <a:path w="1503045" h="680085">
                <a:moveTo>
                  <a:pt x="315468" y="105156"/>
                </a:moveTo>
                <a:lnTo>
                  <a:pt x="214884" y="179832"/>
                </a:lnTo>
              </a:path>
              <a:path w="1503045" h="680085">
                <a:moveTo>
                  <a:pt x="1184148" y="71628"/>
                </a:moveTo>
                <a:lnTo>
                  <a:pt x="1475231" y="73152"/>
                </a:lnTo>
              </a:path>
              <a:path w="1503045" h="680085">
                <a:moveTo>
                  <a:pt x="1502664" y="73152"/>
                </a:moveTo>
                <a:lnTo>
                  <a:pt x="1402079" y="0"/>
                </a:lnTo>
              </a:path>
              <a:path w="1503045" h="680085">
                <a:moveTo>
                  <a:pt x="1501140" y="71628"/>
                </a:moveTo>
                <a:lnTo>
                  <a:pt x="1400555" y="144780"/>
                </a:lnTo>
              </a:path>
              <a:path w="1503045" h="680085">
                <a:moveTo>
                  <a:pt x="496824" y="679704"/>
                </a:moveTo>
                <a:lnTo>
                  <a:pt x="498348" y="391668"/>
                </a:lnTo>
              </a:path>
              <a:path w="1503045" h="680085">
                <a:moveTo>
                  <a:pt x="498348" y="367284"/>
                </a:moveTo>
                <a:lnTo>
                  <a:pt x="423672" y="464820"/>
                </a:lnTo>
              </a:path>
              <a:path w="1503045" h="680085">
                <a:moveTo>
                  <a:pt x="496824" y="368808"/>
                </a:moveTo>
                <a:lnTo>
                  <a:pt x="571500" y="466344"/>
                </a:lnTo>
              </a:path>
              <a:path w="1503045" h="680085">
                <a:moveTo>
                  <a:pt x="1043940" y="678180"/>
                </a:moveTo>
                <a:lnTo>
                  <a:pt x="1045464" y="390144"/>
                </a:lnTo>
              </a:path>
              <a:path w="1503045" h="680085">
                <a:moveTo>
                  <a:pt x="1045464" y="364236"/>
                </a:moveTo>
                <a:lnTo>
                  <a:pt x="970788" y="463296"/>
                </a:lnTo>
              </a:path>
              <a:path w="1503045" h="680085">
                <a:moveTo>
                  <a:pt x="1043940" y="367284"/>
                </a:moveTo>
                <a:lnTo>
                  <a:pt x="1118616" y="464820"/>
                </a:lnTo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22" name="object 22"/>
          <p:cNvSpPr txBox="1"/>
          <p:nvPr/>
        </p:nvSpPr>
        <p:spPr>
          <a:xfrm>
            <a:off x="5863209" y="6285444"/>
            <a:ext cx="66294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spc="-10" dirty="0">
                <a:latin typeface="Arial MT"/>
                <a:cs typeface="Arial MT"/>
              </a:rPr>
              <a:t>Ground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8</a:t>
            </a:fld>
            <a:endParaRPr spc="-50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CF741EFC-A0B5-8413-FBB3-6A8144A8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6E1A-1503-49B8-B265-04634835C274}" type="datetime1">
              <a:rPr lang="en-US" smtClean="0"/>
              <a:t>9/30/2026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68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416688"/>
            <a:ext cx="10515600" cy="1222436"/>
          </a:xfrm>
          <a:prstGeom prst="rect">
            <a:avLst/>
          </a:prstGeom>
        </p:spPr>
        <p:txBody>
          <a:bodyPr vert="horz" wrap="square" lIns="0" tIns="540054" rIns="0" bIns="0" rtlCol="0" anchor="ctr">
            <a:spAutoFit/>
          </a:bodyPr>
          <a:lstStyle/>
          <a:p>
            <a:pPr marL="876935">
              <a:lnSpc>
                <a:spcPct val="100000"/>
              </a:lnSpc>
              <a:spcBef>
                <a:spcPts val="105"/>
              </a:spcBef>
            </a:pPr>
            <a:r>
              <a:rPr dirty="0"/>
              <a:t>Electrical</a:t>
            </a:r>
            <a:r>
              <a:rPr spc="-50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83329" y="1954150"/>
            <a:ext cx="6170930" cy="3460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065" indent="-342265">
              <a:spcBef>
                <a:spcPts val="105"/>
              </a:spcBef>
              <a:buChar char="•"/>
              <a:tabLst>
                <a:tab pos="393065" algn="l"/>
              </a:tabLst>
            </a:pPr>
            <a:r>
              <a:rPr sz="3200" dirty="0">
                <a:latin typeface="Arial MT"/>
                <a:cs typeface="Arial MT"/>
              </a:rPr>
              <a:t>Important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characteristics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are:</a:t>
            </a:r>
            <a:endParaRPr sz="3200">
              <a:latin typeface="Arial MT"/>
              <a:cs typeface="Arial MT"/>
            </a:endParaRPr>
          </a:p>
          <a:p>
            <a:pPr>
              <a:spcBef>
                <a:spcPts val="29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794385" lvl="1" indent="-286385">
              <a:buChar char="–"/>
              <a:tabLst>
                <a:tab pos="794385" algn="l"/>
              </a:tabLst>
            </a:pPr>
            <a:r>
              <a:rPr sz="2000" dirty="0">
                <a:latin typeface="Arial MT"/>
                <a:cs typeface="Arial MT"/>
              </a:rPr>
              <a:t>V</a:t>
            </a:r>
            <a:r>
              <a:rPr sz="1950" baseline="-21367" dirty="0">
                <a:latin typeface="Arial MT"/>
                <a:cs typeface="Arial MT"/>
              </a:rPr>
              <a:t>OHmin</a:t>
            </a:r>
            <a:r>
              <a:rPr sz="1950" spc="307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min value 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recognized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‘1’</a:t>
            </a:r>
            <a:endParaRPr sz="2000">
              <a:latin typeface="Arial MT"/>
              <a:cs typeface="Arial MT"/>
            </a:endParaRPr>
          </a:p>
          <a:p>
            <a:pPr marL="794385" lvl="1" indent="-286385">
              <a:spcBef>
                <a:spcPts val="240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Arial MT"/>
                <a:cs typeface="Arial MT"/>
              </a:rPr>
              <a:t>V</a:t>
            </a:r>
            <a:r>
              <a:rPr sz="1950" baseline="-21367" dirty="0">
                <a:latin typeface="Arial MT"/>
                <a:cs typeface="Arial MT"/>
              </a:rPr>
              <a:t>IHmin</a:t>
            </a:r>
            <a:r>
              <a:rPr sz="1950" spc="300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recognized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‘1’</a:t>
            </a:r>
            <a:endParaRPr sz="2000">
              <a:latin typeface="Arial MT"/>
              <a:cs typeface="Arial MT"/>
            </a:endParaRPr>
          </a:p>
          <a:p>
            <a:pPr lvl="1">
              <a:spcBef>
                <a:spcPts val="1110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794385" lvl="1" indent="-286385">
              <a:buChar char="–"/>
              <a:tabLst>
                <a:tab pos="794385" algn="l"/>
              </a:tabLst>
            </a:pPr>
            <a:r>
              <a:rPr sz="2000" dirty="0">
                <a:latin typeface="Arial MT"/>
                <a:cs typeface="Arial MT"/>
              </a:rPr>
              <a:t>V</a:t>
            </a:r>
            <a:r>
              <a:rPr sz="1950" baseline="-21367" dirty="0">
                <a:latin typeface="Arial MT"/>
                <a:cs typeface="Arial MT"/>
              </a:rPr>
              <a:t>ILmax</a:t>
            </a:r>
            <a:r>
              <a:rPr sz="1950" spc="277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max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 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recognized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‘0’</a:t>
            </a:r>
            <a:endParaRPr sz="2000">
              <a:latin typeface="Arial MT"/>
              <a:cs typeface="Arial MT"/>
            </a:endParaRPr>
          </a:p>
          <a:p>
            <a:pPr marL="794385" lvl="1" indent="-286385">
              <a:spcBef>
                <a:spcPts val="240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Arial MT"/>
                <a:cs typeface="Arial MT"/>
              </a:rPr>
              <a:t>V</a:t>
            </a:r>
            <a:r>
              <a:rPr sz="1950" baseline="-21367" dirty="0">
                <a:latin typeface="Arial MT"/>
                <a:cs typeface="Arial MT"/>
              </a:rPr>
              <a:t>OLmax</a:t>
            </a:r>
            <a:r>
              <a:rPr sz="1950" spc="22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max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 of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recognized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‘0’</a:t>
            </a:r>
            <a:endParaRPr sz="2000">
              <a:latin typeface="Arial MT"/>
              <a:cs typeface="Arial MT"/>
            </a:endParaRPr>
          </a:p>
          <a:p>
            <a:pPr lvl="1">
              <a:spcBef>
                <a:spcPts val="580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794385" lvl="1" indent="-286385">
              <a:buChar char="–"/>
              <a:tabLst>
                <a:tab pos="794385" algn="l"/>
              </a:tabLst>
            </a:pPr>
            <a:r>
              <a:rPr sz="2000" dirty="0">
                <a:latin typeface="Arial MT"/>
                <a:cs typeface="Arial MT"/>
              </a:rPr>
              <a:t>Values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outside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given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range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allowed.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90723" y="4253484"/>
            <a:ext cx="790575" cy="1157605"/>
          </a:xfrm>
          <a:custGeom>
            <a:avLst/>
            <a:gdLst/>
            <a:ahLst/>
            <a:cxnLst/>
            <a:rect l="l" t="t" r="r" b="b"/>
            <a:pathLst>
              <a:path w="790575" h="1157604">
                <a:moveTo>
                  <a:pt x="789559" y="28956"/>
                </a:moveTo>
                <a:lnTo>
                  <a:pt x="764921" y="0"/>
                </a:lnTo>
                <a:lnTo>
                  <a:pt x="102209" y="562927"/>
                </a:lnTo>
                <a:lnTo>
                  <a:pt x="77597" y="533908"/>
                </a:lnTo>
                <a:lnTo>
                  <a:pt x="27432" y="651510"/>
                </a:lnTo>
                <a:lnTo>
                  <a:pt x="151511" y="621030"/>
                </a:lnTo>
                <a:lnTo>
                  <a:pt x="137388" y="604393"/>
                </a:lnTo>
                <a:lnTo>
                  <a:pt x="126911" y="592048"/>
                </a:lnTo>
                <a:lnTo>
                  <a:pt x="789559" y="28956"/>
                </a:lnTo>
                <a:close/>
              </a:path>
              <a:path w="790575" h="1157604">
                <a:moveTo>
                  <a:pt x="790575" y="409067"/>
                </a:moveTo>
                <a:lnTo>
                  <a:pt x="763905" y="381889"/>
                </a:lnTo>
                <a:lnTo>
                  <a:pt x="68326" y="1063891"/>
                </a:lnTo>
                <a:lnTo>
                  <a:pt x="41656" y="1036701"/>
                </a:lnTo>
                <a:lnTo>
                  <a:pt x="0" y="1157478"/>
                </a:lnTo>
                <a:lnTo>
                  <a:pt x="121666" y="1118235"/>
                </a:lnTo>
                <a:lnTo>
                  <a:pt x="108077" y="1104392"/>
                </a:lnTo>
                <a:lnTo>
                  <a:pt x="94996" y="1091069"/>
                </a:lnTo>
                <a:lnTo>
                  <a:pt x="790575" y="409067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981200" y="2129027"/>
            <a:ext cx="2301240" cy="1239520"/>
            <a:chOff x="457200" y="2129027"/>
            <a:chExt cx="2301240" cy="1239520"/>
          </a:xfrm>
        </p:grpSpPr>
        <p:sp>
          <p:nvSpPr>
            <p:cNvPr id="7" name="object 7"/>
            <p:cNvSpPr/>
            <p:nvPr/>
          </p:nvSpPr>
          <p:spPr>
            <a:xfrm>
              <a:off x="1963674" y="2210561"/>
              <a:ext cx="794385" cy="1158240"/>
            </a:xfrm>
            <a:custGeom>
              <a:avLst/>
              <a:gdLst/>
              <a:ahLst/>
              <a:cxnLst/>
              <a:rect l="l" t="t" r="r" b="b"/>
              <a:pathLst>
                <a:path w="794385" h="1158239">
                  <a:moveTo>
                    <a:pt x="791972" y="1128014"/>
                  </a:moveTo>
                  <a:lnTo>
                    <a:pt x="101714" y="588797"/>
                  </a:lnTo>
                  <a:lnTo>
                    <a:pt x="110845" y="577088"/>
                  </a:lnTo>
                  <a:lnTo>
                    <a:pt x="125222" y="558673"/>
                  </a:lnTo>
                  <a:lnTo>
                    <a:pt x="0" y="533400"/>
                  </a:lnTo>
                  <a:lnTo>
                    <a:pt x="54864" y="648843"/>
                  </a:lnTo>
                  <a:lnTo>
                    <a:pt x="78333" y="618756"/>
                  </a:lnTo>
                  <a:lnTo>
                    <a:pt x="768604" y="1157986"/>
                  </a:lnTo>
                  <a:lnTo>
                    <a:pt x="791972" y="1128014"/>
                  </a:lnTo>
                  <a:close/>
                </a:path>
                <a:path w="794385" h="1158239">
                  <a:moveTo>
                    <a:pt x="794385" y="825373"/>
                  </a:moveTo>
                  <a:lnTo>
                    <a:pt x="112204" y="71907"/>
                  </a:lnTo>
                  <a:lnTo>
                    <a:pt x="127812" y="57785"/>
                  </a:lnTo>
                  <a:lnTo>
                    <a:pt x="140462" y="46355"/>
                  </a:lnTo>
                  <a:lnTo>
                    <a:pt x="21336" y="0"/>
                  </a:lnTo>
                  <a:lnTo>
                    <a:pt x="55626" y="123063"/>
                  </a:lnTo>
                  <a:lnTo>
                    <a:pt x="83870" y="97523"/>
                  </a:lnTo>
                  <a:lnTo>
                    <a:pt x="766191" y="851027"/>
                  </a:lnTo>
                  <a:lnTo>
                    <a:pt x="794385" y="82537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2129027"/>
              <a:ext cx="1501140" cy="596265"/>
            </a:xfrm>
            <a:custGeom>
              <a:avLst/>
              <a:gdLst/>
              <a:ahLst/>
              <a:cxnLst/>
              <a:rect l="l" t="t" r="r" b="b"/>
              <a:pathLst>
                <a:path w="1501139" h="596264">
                  <a:moveTo>
                    <a:pt x="0" y="595884"/>
                  </a:moveTo>
                  <a:lnTo>
                    <a:pt x="1501139" y="595884"/>
                  </a:lnTo>
                  <a:lnTo>
                    <a:pt x="1501139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929384" y="2218956"/>
            <a:ext cx="1553210" cy="3206750"/>
            <a:chOff x="405384" y="2218956"/>
            <a:chExt cx="1553210" cy="3206750"/>
          </a:xfrm>
        </p:grpSpPr>
        <p:sp>
          <p:nvSpPr>
            <p:cNvPr id="10" name="object 10"/>
            <p:cNvSpPr/>
            <p:nvPr/>
          </p:nvSpPr>
          <p:spPr>
            <a:xfrm>
              <a:off x="457200" y="4850891"/>
              <a:ext cx="1501140" cy="574675"/>
            </a:xfrm>
            <a:custGeom>
              <a:avLst/>
              <a:gdLst/>
              <a:ahLst/>
              <a:cxnLst/>
              <a:rect l="l" t="t" r="r" b="b"/>
              <a:pathLst>
                <a:path w="1501139" h="574675">
                  <a:moveTo>
                    <a:pt x="0" y="574547"/>
                  </a:moveTo>
                  <a:lnTo>
                    <a:pt x="1501139" y="574547"/>
                  </a:lnTo>
                  <a:lnTo>
                    <a:pt x="1501139" y="0"/>
                  </a:lnTo>
                  <a:lnTo>
                    <a:pt x="0" y="0"/>
                  </a:lnTo>
                  <a:lnTo>
                    <a:pt x="0" y="574547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384" y="4901196"/>
              <a:ext cx="965454" cy="5112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384" y="2218956"/>
              <a:ext cx="965454" cy="51128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2724911"/>
              <a:ext cx="1501139" cy="21259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0624" y="3453383"/>
              <a:ext cx="1501902" cy="45491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624" y="3745991"/>
              <a:ext cx="1424177" cy="454913"/>
            </a:xfrm>
            <a:prstGeom prst="rect">
              <a:avLst/>
            </a:prstGeom>
          </p:spPr>
        </p:pic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949195" y="2154936"/>
          <a:ext cx="1524000" cy="3275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logic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2318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3030" marR="173355">
                        <a:lnSpc>
                          <a:spcPct val="12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indeterminate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voltage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755"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logic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092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5A9D40F-F42B-3E9F-BB3A-D20C4656F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9901-D788-4D80-9686-C787FAC70C9B}" type="datetime1">
              <a:rPr lang="en-US" smtClean="0"/>
              <a:t>9/30/2026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8B239EB-A79A-BB15-A7C7-44C86D9B5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F530E4C-DCC3-0E93-15B6-5EA2C3C64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81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5936" y="272541"/>
            <a:ext cx="591756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Logic</a:t>
            </a:r>
            <a:r>
              <a:rPr sz="3600" spc="-35" dirty="0"/>
              <a:t> </a:t>
            </a:r>
            <a:r>
              <a:rPr sz="3600" dirty="0"/>
              <a:t>Level</a:t>
            </a:r>
            <a:r>
              <a:rPr sz="3600" spc="-30" dirty="0"/>
              <a:t> </a:t>
            </a:r>
            <a:r>
              <a:rPr sz="3600" dirty="0"/>
              <a:t>&amp;</a:t>
            </a:r>
            <a:r>
              <a:rPr sz="3600" spc="-15" dirty="0"/>
              <a:t> </a:t>
            </a:r>
            <a:r>
              <a:rPr sz="3600" dirty="0"/>
              <a:t>Voltage</a:t>
            </a:r>
            <a:r>
              <a:rPr sz="3600" spc="-30" dirty="0"/>
              <a:t> </a:t>
            </a:r>
            <a:r>
              <a:rPr sz="3600" spc="-10" dirty="0"/>
              <a:t>Range</a:t>
            </a:r>
            <a:endParaRPr sz="360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0AFA6432-C06F-49FB-BD04-50DA9043E273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14" name="object 14"/>
          <p:cNvSpPr txBox="1"/>
          <p:nvPr/>
        </p:nvSpPr>
        <p:spPr>
          <a:xfrm>
            <a:off x="9922003" y="6290386"/>
            <a:ext cx="19621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85" dirty="0">
                <a:latin typeface="Arial MT"/>
                <a:cs typeface="Arial MT"/>
              </a:rPr>
              <a:t>11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2455" y="4846040"/>
            <a:ext cx="495300" cy="84074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spcBef>
                <a:spcPts val="1145"/>
              </a:spcBef>
            </a:pPr>
            <a:r>
              <a:rPr b="1" spc="-20" dirty="0">
                <a:latin typeface="Arial"/>
                <a:cs typeface="Arial"/>
              </a:rPr>
              <a:t>0.8V</a:t>
            </a:r>
            <a:endParaRPr>
              <a:latin typeface="Arial"/>
              <a:cs typeface="Arial"/>
            </a:endParaRPr>
          </a:p>
          <a:p>
            <a:pPr marL="96520">
              <a:spcBef>
                <a:spcPts val="1050"/>
              </a:spcBef>
            </a:pPr>
            <a:r>
              <a:rPr b="1" spc="-25" dirty="0">
                <a:latin typeface="Arial"/>
                <a:cs typeface="Arial"/>
              </a:rPr>
              <a:t>0V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8561" y="5784900"/>
            <a:ext cx="1189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CC0000"/>
                </a:solidFill>
                <a:latin typeface="Arial"/>
                <a:cs typeface="Arial"/>
              </a:rPr>
              <a:t>TTL</a:t>
            </a:r>
            <a:r>
              <a:rPr b="1" spc="-7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b="1" spc="-20" dirty="0">
                <a:solidFill>
                  <a:srgbClr val="CC0000"/>
                </a:solidFill>
                <a:latin typeface="Arial"/>
                <a:cs typeface="Arial"/>
              </a:rPr>
              <a:t>INPUT</a:t>
            </a:r>
            <a:endParaRPr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19288" y="3599689"/>
          <a:ext cx="1877695" cy="19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4665">
                <a:tc>
                  <a:txBody>
                    <a:bodyPr/>
                    <a:lstStyle/>
                    <a:p>
                      <a:pPr marR="17780" algn="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Logic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400µA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Indeterminate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Logic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16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mA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6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287625" y="1499742"/>
            <a:ext cx="7519670" cy="3177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525" indent="-5080"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Typical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acceptable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voltage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ranges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logic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1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logic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below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logic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gate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voltage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within</a:t>
            </a:r>
            <a:r>
              <a:rPr sz="2400" spc="-25" dirty="0">
                <a:latin typeface="Arial MT"/>
                <a:cs typeface="Arial MT"/>
              </a:rPr>
              <a:t> the </a:t>
            </a:r>
            <a:r>
              <a:rPr sz="2400" dirty="0">
                <a:latin typeface="Arial MT"/>
                <a:cs typeface="Arial MT"/>
              </a:rPr>
              <a:t>‘indeterminate’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range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unpredictable </a:t>
            </a:r>
            <a:r>
              <a:rPr sz="2400" dirty="0">
                <a:latin typeface="Arial MT"/>
                <a:cs typeface="Arial MT"/>
              </a:rPr>
              <a:t>output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level.</a:t>
            </a:r>
            <a:endParaRPr sz="2400">
              <a:latin typeface="Arial MT"/>
              <a:cs typeface="Arial MT"/>
            </a:endParaRPr>
          </a:p>
          <a:p>
            <a:pPr marL="5109210">
              <a:lnSpc>
                <a:spcPts val="1885"/>
              </a:lnSpc>
              <a:spcBef>
                <a:spcPts val="25"/>
              </a:spcBef>
            </a:pPr>
            <a:r>
              <a:rPr b="1" spc="-20" dirty="0">
                <a:latin typeface="Arial"/>
                <a:cs typeface="Arial"/>
              </a:rPr>
              <a:t>5.0V</a:t>
            </a:r>
            <a:endParaRPr>
              <a:latin typeface="Arial"/>
              <a:cs typeface="Arial"/>
            </a:endParaRPr>
          </a:p>
          <a:p>
            <a:pPr marL="1602105">
              <a:lnSpc>
                <a:spcPts val="1885"/>
              </a:lnSpc>
            </a:pPr>
            <a:r>
              <a:rPr b="1" spc="-20" dirty="0">
                <a:latin typeface="Arial"/>
                <a:cs typeface="Arial"/>
              </a:rPr>
              <a:t>5.0V</a:t>
            </a:r>
            <a:endParaRPr>
              <a:latin typeface="Arial"/>
              <a:cs typeface="Arial"/>
            </a:endParaRPr>
          </a:p>
          <a:p>
            <a:pPr marL="5109210">
              <a:spcBef>
                <a:spcPts val="685"/>
              </a:spcBef>
            </a:pPr>
            <a:r>
              <a:rPr b="1" spc="-20" dirty="0">
                <a:latin typeface="Arial"/>
                <a:cs typeface="Arial"/>
              </a:rPr>
              <a:t>2.4V</a:t>
            </a:r>
            <a:endParaRPr>
              <a:latin typeface="Arial"/>
              <a:cs typeface="Arial"/>
            </a:endParaRPr>
          </a:p>
          <a:p>
            <a:pPr marL="1602105">
              <a:spcBef>
                <a:spcPts val="1035"/>
              </a:spcBef>
            </a:pPr>
            <a:r>
              <a:rPr b="1" spc="-20" dirty="0">
                <a:latin typeface="Arial"/>
                <a:cs typeface="Arial"/>
              </a:rPr>
              <a:t>2.0V</a:t>
            </a:r>
            <a:endParaRPr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527804" y="3733801"/>
          <a:ext cx="1931035" cy="184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1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2160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Logic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40µA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17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315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Indeterminate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Logic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2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baseline="10416" dirty="0">
                          <a:latin typeface="Arial"/>
                          <a:cs typeface="Arial"/>
                        </a:rPr>
                        <a:t>1.6</a:t>
                      </a:r>
                      <a:r>
                        <a:rPr sz="2400" b="1" spc="-15" baseline="10416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37" baseline="10416" dirty="0">
                          <a:latin typeface="Arial"/>
                          <a:cs typeface="Arial"/>
                        </a:rPr>
                        <a:t>mA</a:t>
                      </a:r>
                      <a:endParaRPr sz="2400" baseline="10416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575041" y="5408472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25" dirty="0">
                <a:latin typeface="Arial"/>
                <a:cs typeface="Arial"/>
              </a:rPr>
              <a:t>0V</a:t>
            </a:r>
            <a:endParaRPr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84541" y="4763770"/>
            <a:ext cx="49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20" dirty="0">
                <a:latin typeface="Arial"/>
                <a:cs typeface="Arial"/>
              </a:rPr>
              <a:t>0.4V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59165" y="5733999"/>
            <a:ext cx="1443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CC0000"/>
                </a:solidFill>
                <a:latin typeface="Arial"/>
                <a:cs typeface="Arial"/>
              </a:rPr>
              <a:t>TTL</a:t>
            </a:r>
            <a:r>
              <a:rPr b="1" spc="-7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CC0000"/>
                </a:solidFill>
                <a:latin typeface="Arial"/>
                <a:cs typeface="Arial"/>
              </a:rPr>
              <a:t>OUTPUT</a:t>
            </a:r>
            <a:endParaRPr>
              <a:latin typeface="Arial"/>
              <a:cs typeface="Arial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1E02053-E0E5-75F6-5ED7-566DDD59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79822" y="634112"/>
            <a:ext cx="1641475" cy="69659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Fan-</a:t>
            </a:r>
            <a:r>
              <a:rPr spc="-25" dirty="0"/>
              <a:t>In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36750" y="1450785"/>
            <a:ext cx="6823709" cy="164147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spcBef>
                <a:spcPts val="90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Number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input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signals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gate</a:t>
            </a:r>
            <a:endParaRPr sz="3200">
              <a:latin typeface="Arial MT"/>
              <a:cs typeface="Arial MT"/>
            </a:endParaRPr>
          </a:p>
          <a:p>
            <a:pPr marL="755650" lvl="1" indent="-285750"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electrical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property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manufacturing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process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1655" y="3429000"/>
            <a:ext cx="2761488" cy="14097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203194" y="3748785"/>
            <a:ext cx="2552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solidFill>
                  <a:srgbClr val="CC0000"/>
                </a:solidFill>
                <a:latin typeface="Arial MT"/>
                <a:cs typeface="Arial MT"/>
              </a:rPr>
              <a:t>NAND</a:t>
            </a:r>
            <a:r>
              <a:rPr spc="-2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CC0000"/>
                </a:solidFill>
                <a:latin typeface="Arial MT"/>
                <a:cs typeface="Arial MT"/>
              </a:rPr>
              <a:t>gate</a:t>
            </a:r>
            <a:r>
              <a:rPr spc="-2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CC0000"/>
                </a:solidFill>
                <a:latin typeface="Arial MT"/>
                <a:cs typeface="Arial MT"/>
              </a:rPr>
              <a:t>with a</a:t>
            </a:r>
            <a:r>
              <a:rPr spc="-2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CC0000"/>
                </a:solidFill>
                <a:latin typeface="Arial MT"/>
                <a:cs typeface="Arial MT"/>
              </a:rPr>
              <a:t>Fan-</a:t>
            </a:r>
            <a:r>
              <a:rPr spc="-25" dirty="0">
                <a:solidFill>
                  <a:srgbClr val="CC0000"/>
                </a:solidFill>
                <a:latin typeface="Arial MT"/>
                <a:cs typeface="Arial MT"/>
              </a:rPr>
              <a:t>in </a:t>
            </a:r>
            <a:r>
              <a:rPr dirty="0">
                <a:solidFill>
                  <a:srgbClr val="CC0000"/>
                </a:solidFill>
                <a:latin typeface="Arial MT"/>
                <a:cs typeface="Arial MT"/>
              </a:rPr>
              <a:t>of </a:t>
            </a:r>
            <a:r>
              <a:rPr spc="-50" dirty="0">
                <a:solidFill>
                  <a:srgbClr val="CC0000"/>
                </a:solidFill>
                <a:latin typeface="Arial MT"/>
                <a:cs typeface="Arial MT"/>
              </a:rPr>
              <a:t>8</a:t>
            </a:r>
            <a:endParaRPr>
              <a:latin typeface="Arial MT"/>
              <a:cs typeface="Arial MT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541FAE-A095-E09F-557C-852B01769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254-F91B-4739-AC20-5263F11F439A}" type="datetime1">
              <a:rPr lang="en-US" smtClean="0"/>
              <a:t>9/30/2026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49123F5-8EA6-FE5E-F903-85AA61421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E2BD6F2-0F95-A448-5F15-730033E4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26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1002" y="255219"/>
            <a:ext cx="1492250" cy="51435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Arial"/>
                <a:cs typeface="Arial"/>
              </a:rPr>
              <a:t>Fan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out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40939" y="943102"/>
            <a:ext cx="7569834" cy="36836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loading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factor</a:t>
            </a:r>
            <a:endParaRPr sz="2400">
              <a:latin typeface="Arial MT"/>
              <a:cs typeface="Arial MT"/>
            </a:endParaRPr>
          </a:p>
          <a:p>
            <a:pPr marL="355600" marR="172085" indent="-343535"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Defined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maximum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logic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output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reliably</a:t>
            </a:r>
            <a:endParaRPr sz="2400">
              <a:latin typeface="Arial MT"/>
              <a:cs typeface="Arial MT"/>
            </a:endParaRPr>
          </a:p>
          <a:p>
            <a:pPr marL="355600" marR="5080" indent="-343535"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logic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circuit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can</a:t>
            </a:r>
            <a:r>
              <a:rPr sz="2400" spc="6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logic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inputs.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maximum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standard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logic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output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reliably.</a:t>
            </a:r>
            <a:endParaRPr sz="2400">
              <a:latin typeface="Arial MT"/>
              <a:cs typeface="Arial MT"/>
            </a:endParaRPr>
          </a:p>
          <a:p>
            <a:pPr marL="355600" indent="-342900"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Related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current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parameters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(both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355600"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low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states.)</a:t>
            </a:r>
            <a:endParaRPr sz="2400">
              <a:latin typeface="Arial MT"/>
              <a:cs typeface="Arial MT"/>
            </a:endParaRPr>
          </a:p>
          <a:p>
            <a:pPr marL="355600" indent="-342900"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TTL </a:t>
            </a:r>
            <a:r>
              <a:rPr sz="2400" spc="-10" dirty="0">
                <a:latin typeface="Arial MT"/>
                <a:cs typeface="Arial MT"/>
              </a:rPr>
              <a:t>(10),CMOS(50)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1" y="4648200"/>
            <a:ext cx="4280915" cy="1905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5007103" y="6290386"/>
            <a:ext cx="217741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Digital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Electronics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MITCOE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12</a:t>
            </a:fld>
            <a:endParaRPr spc="-25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A9564A-2405-DD59-6C81-AB29658D5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26FA1-4273-4625-89BE-ED480975E802}" type="datetime1">
              <a:rPr lang="en-US" smtClean="0"/>
              <a:t>9/30/2026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6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9328" y="269240"/>
            <a:ext cx="271843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Noise</a:t>
            </a:r>
            <a:r>
              <a:rPr sz="3600" spc="-25" dirty="0"/>
              <a:t> </a:t>
            </a:r>
            <a:r>
              <a:rPr sz="3600" spc="-10" dirty="0"/>
              <a:t>Margin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123644" y="719455"/>
            <a:ext cx="7750809" cy="183704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5080" indent="-3429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Noise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immunity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refers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circuit’s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ability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tolerate </a:t>
            </a:r>
            <a:r>
              <a:rPr sz="2400" dirty="0">
                <a:latin typeface="Arial MT"/>
                <a:cs typeface="Arial MT"/>
              </a:rPr>
              <a:t>noise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output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voltage.</a:t>
            </a:r>
            <a:endParaRPr sz="2400">
              <a:latin typeface="Arial MT"/>
              <a:cs typeface="Arial MT"/>
            </a:endParaRPr>
          </a:p>
          <a:p>
            <a:pPr marL="469265">
              <a:spcBef>
                <a:spcPts val="285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quantitative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measure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noise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margin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>
              <a:spcBef>
                <a:spcPts val="40"/>
              </a:spcBef>
            </a:pPr>
            <a:endParaRPr sz="2400">
              <a:latin typeface="Arial MT"/>
              <a:cs typeface="Arial MT"/>
            </a:endParaRPr>
          </a:p>
          <a:p>
            <a:pPr marL="526415">
              <a:tabLst>
                <a:tab pos="4621530" algn="l"/>
              </a:tabLst>
            </a:pPr>
            <a:r>
              <a:rPr spc="-20" dirty="0">
                <a:latin typeface="Arial MT"/>
                <a:cs typeface="Arial MT"/>
              </a:rPr>
              <a:t>High-</a:t>
            </a:r>
            <a:r>
              <a:rPr dirty="0">
                <a:latin typeface="Arial MT"/>
                <a:cs typeface="Arial MT"/>
              </a:rPr>
              <a:t>state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noise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margin:</a:t>
            </a:r>
            <a:r>
              <a:rPr dirty="0">
                <a:latin typeface="Arial MT"/>
                <a:cs typeface="Arial MT"/>
              </a:rPr>
              <a:t>	</a:t>
            </a:r>
            <a:r>
              <a:rPr spc="-25" dirty="0">
                <a:latin typeface="Arial MT"/>
                <a:cs typeface="Arial MT"/>
              </a:rPr>
              <a:t>Low-</a:t>
            </a:r>
            <a:r>
              <a:rPr dirty="0">
                <a:latin typeface="Arial MT"/>
                <a:cs typeface="Arial MT"/>
              </a:rPr>
              <a:t>state</a:t>
            </a:r>
            <a:r>
              <a:rPr spc="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noise </a:t>
            </a:r>
            <a:r>
              <a:rPr spc="-10" dirty="0">
                <a:latin typeface="Arial MT"/>
                <a:cs typeface="Arial MT"/>
              </a:rPr>
              <a:t>margin:</a:t>
            </a:r>
            <a:endParaRPr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7855" y="2600913"/>
            <a:ext cx="3505200" cy="65338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766723" y="2625189"/>
            <a:ext cx="3585845" cy="727710"/>
            <a:chOff x="5242722" y="2625189"/>
            <a:chExt cx="3585845" cy="7277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42722" y="2625189"/>
              <a:ext cx="3436295" cy="57991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722620" y="2955035"/>
              <a:ext cx="3106420" cy="398145"/>
            </a:xfrm>
            <a:custGeom>
              <a:avLst/>
              <a:gdLst/>
              <a:ahLst/>
              <a:cxnLst/>
              <a:rect l="l" t="t" r="r" b="b"/>
              <a:pathLst>
                <a:path w="3106420" h="398145">
                  <a:moveTo>
                    <a:pt x="3105912" y="0"/>
                  </a:moveTo>
                  <a:lnTo>
                    <a:pt x="0" y="0"/>
                  </a:lnTo>
                  <a:lnTo>
                    <a:pt x="0" y="397763"/>
                  </a:lnTo>
                  <a:lnTo>
                    <a:pt x="3105912" y="397763"/>
                  </a:lnTo>
                  <a:lnTo>
                    <a:pt x="3105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3383" y="3433571"/>
            <a:ext cx="5622036" cy="291084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CAC60440-604A-426B-8703-13FB326F569A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13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303077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2512" y="91516"/>
            <a:ext cx="5953125" cy="6350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3399"/>
                </a:solidFill>
              </a:rPr>
              <a:t>Speed:</a:t>
            </a:r>
            <a:r>
              <a:rPr sz="4000" spc="-165" dirty="0">
                <a:solidFill>
                  <a:srgbClr val="003399"/>
                </a:solidFill>
              </a:rPr>
              <a:t> </a:t>
            </a:r>
            <a:r>
              <a:rPr sz="4000" dirty="0">
                <a:solidFill>
                  <a:srgbClr val="003399"/>
                </a:solidFill>
              </a:rPr>
              <a:t>Propagation</a:t>
            </a:r>
            <a:r>
              <a:rPr sz="4000" spc="-140" dirty="0">
                <a:solidFill>
                  <a:srgbClr val="003399"/>
                </a:solidFill>
              </a:rPr>
              <a:t> </a:t>
            </a:r>
            <a:r>
              <a:rPr sz="4000" spc="-10" dirty="0">
                <a:solidFill>
                  <a:srgbClr val="003399"/>
                </a:solidFill>
              </a:rPr>
              <a:t>Delay</a:t>
            </a:r>
            <a:endParaRPr sz="4000"/>
          </a:p>
        </p:txBody>
      </p:sp>
      <p:sp>
        <p:nvSpPr>
          <p:cNvPr id="34" name="object 34"/>
          <p:cNvSpPr txBox="1"/>
          <p:nvPr/>
        </p:nvSpPr>
        <p:spPr>
          <a:xfrm>
            <a:off x="1273629" y="872091"/>
            <a:ext cx="10722428" cy="23308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17780">
              <a:spcBef>
                <a:spcPts val="95"/>
              </a:spcBef>
            </a:pP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The</a:t>
            </a:r>
            <a:r>
              <a:rPr sz="2800" spc="-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propagation</a:t>
            </a:r>
            <a:r>
              <a:rPr sz="2800" spc="-4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delay</a:t>
            </a:r>
            <a:r>
              <a:rPr sz="2800" spc="-3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(tpd)</a:t>
            </a:r>
            <a:r>
              <a:rPr sz="2800" spc="-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which</a:t>
            </a:r>
            <a:r>
              <a:rPr sz="2800" spc="-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is</a:t>
            </a:r>
            <a:r>
              <a:rPr sz="2800" spc="-3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the</a:t>
            </a:r>
            <a:r>
              <a:rPr sz="2800" spc="-3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time</a:t>
            </a:r>
            <a:r>
              <a:rPr sz="2800" spc="-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taken</a:t>
            </a:r>
            <a:r>
              <a:rPr sz="2800" spc="-25" dirty="0">
                <a:solidFill>
                  <a:srgbClr val="003399"/>
                </a:solidFill>
                <a:latin typeface="Times New Roman"/>
                <a:cs typeface="Times New Roman"/>
              </a:rPr>
              <a:t> for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a</a:t>
            </a:r>
            <a:r>
              <a:rPr sz="2800" spc="-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change</a:t>
            </a:r>
            <a:r>
              <a:rPr sz="2800" spc="-1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at</a:t>
            </a:r>
            <a:r>
              <a:rPr sz="2800" spc="-1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the</a:t>
            </a:r>
            <a:r>
              <a:rPr sz="2800" spc="-1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input</a:t>
            </a:r>
            <a:r>
              <a:rPr sz="2800" spc="-4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to</a:t>
            </a:r>
            <a:r>
              <a:rPr sz="28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appear</a:t>
            </a:r>
            <a:r>
              <a:rPr sz="2800" spc="-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at</a:t>
            </a:r>
            <a:r>
              <a:rPr sz="2800" spc="-1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Times New Roman"/>
                <a:cs typeface="Times New Roman"/>
              </a:rPr>
              <a:t>the</a:t>
            </a:r>
            <a:r>
              <a:rPr sz="2800" spc="-1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3399"/>
                </a:solidFill>
                <a:latin typeface="Times New Roman"/>
                <a:cs typeface="Times New Roman"/>
              </a:rPr>
              <a:t>output</a:t>
            </a:r>
            <a:endParaRPr sz="2800" dirty="0">
              <a:latin typeface="Times New Roman"/>
              <a:cs typeface="Times New Roman"/>
            </a:endParaRPr>
          </a:p>
          <a:p>
            <a:pPr marL="25400">
              <a:spcBef>
                <a:spcPts val="15"/>
              </a:spcBef>
            </a:pP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logic</a:t>
            </a:r>
            <a:r>
              <a:rPr sz="2400" spc="-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gate</a:t>
            </a:r>
            <a:r>
              <a:rPr sz="2400" spc="-3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always</a:t>
            </a:r>
            <a:r>
              <a:rPr sz="2400" spc="-1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takes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some time</a:t>
            </a:r>
            <a:r>
              <a:rPr sz="2400" spc="-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to</a:t>
            </a:r>
            <a:r>
              <a:rPr sz="2400" spc="-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change</a:t>
            </a:r>
            <a:r>
              <a:rPr sz="2400" spc="-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states</a:t>
            </a:r>
            <a:endParaRPr sz="2400" dirty="0">
              <a:latin typeface="Times New Roman"/>
              <a:cs typeface="Times New Roman"/>
            </a:endParaRPr>
          </a:p>
          <a:p>
            <a:pPr marL="25400" marR="337820">
              <a:lnSpc>
                <a:spcPct val="96700"/>
              </a:lnSpc>
              <a:spcBef>
                <a:spcPts val="100"/>
              </a:spcBef>
              <a:tabLst>
                <a:tab pos="2117725" algn="l"/>
              </a:tabLst>
            </a:pPr>
            <a:r>
              <a:rPr sz="2400" i="1" dirty="0">
                <a:solidFill>
                  <a:srgbClr val="003399"/>
                </a:solidFill>
                <a:latin typeface="Times New Roman"/>
                <a:cs typeface="Times New Roman"/>
              </a:rPr>
              <a:t>t</a:t>
            </a:r>
            <a:r>
              <a:rPr sz="2400" baseline="-20833" dirty="0">
                <a:solidFill>
                  <a:srgbClr val="003399"/>
                </a:solidFill>
                <a:latin typeface="Times New Roman"/>
                <a:cs typeface="Times New Roman"/>
              </a:rPr>
              <a:t>PLH</a:t>
            </a:r>
            <a:r>
              <a:rPr sz="2400" spc="277" baseline="-20833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is the</a:t>
            </a:r>
            <a:r>
              <a:rPr sz="2400" spc="-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delay</a:t>
            </a:r>
            <a:r>
              <a:rPr sz="2400" spc="-1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time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before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outp</a:t>
            </a:r>
            <a:r>
              <a:rPr lang="en-US" sz="2400" dirty="0">
                <a:solidFill>
                  <a:srgbClr val="003399"/>
                </a:solidFill>
                <a:latin typeface="Times New Roman"/>
                <a:cs typeface="Times New Roman"/>
              </a:rPr>
              <a:t>u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t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changes</a:t>
            </a:r>
            <a:r>
              <a:rPr sz="2400" spc="-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from low to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003399"/>
                </a:solidFill>
                <a:latin typeface="Times New Roman"/>
                <a:cs typeface="Times New Roman"/>
              </a:rPr>
              <a:t>high </a:t>
            </a:r>
            <a:r>
              <a:rPr sz="2400" i="1" dirty="0">
                <a:solidFill>
                  <a:srgbClr val="003399"/>
                </a:solidFill>
                <a:latin typeface="Times New Roman"/>
                <a:cs typeface="Times New Roman"/>
              </a:rPr>
              <a:t>t</a:t>
            </a:r>
            <a:r>
              <a:rPr sz="2400" baseline="-20833" dirty="0">
                <a:solidFill>
                  <a:srgbClr val="003399"/>
                </a:solidFill>
                <a:latin typeface="Times New Roman"/>
                <a:cs typeface="Times New Roman"/>
              </a:rPr>
              <a:t>PHL</a:t>
            </a:r>
            <a:r>
              <a:rPr sz="2400" spc="270" baseline="-20833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is the</a:t>
            </a:r>
            <a:r>
              <a:rPr sz="2400" spc="-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delay</a:t>
            </a:r>
            <a:r>
              <a:rPr sz="2400" spc="-1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time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before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output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changes</a:t>
            </a:r>
            <a:r>
              <a:rPr sz="2400" spc="-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from high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3399"/>
                </a:solidFill>
                <a:latin typeface="Times New Roman"/>
                <a:cs typeface="Times New Roman"/>
              </a:rPr>
              <a:t>low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both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3399"/>
                </a:solidFill>
                <a:latin typeface="Times New Roman"/>
                <a:cs typeface="Times New Roman"/>
              </a:rPr>
              <a:t>t</a:t>
            </a:r>
            <a:r>
              <a:rPr sz="2400" baseline="-20833" dirty="0">
                <a:solidFill>
                  <a:srgbClr val="003399"/>
                </a:solidFill>
                <a:latin typeface="Times New Roman"/>
                <a:cs typeface="Times New Roman"/>
              </a:rPr>
              <a:t>PLH</a:t>
            </a:r>
            <a:r>
              <a:rPr sz="2400" spc="270" baseline="-20833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&amp;</a:t>
            </a:r>
            <a:r>
              <a:rPr sz="2400" spc="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i="1" spc="-20" dirty="0">
                <a:solidFill>
                  <a:srgbClr val="003399"/>
                </a:solidFill>
                <a:latin typeface="Times New Roman"/>
                <a:cs typeface="Times New Roman"/>
              </a:rPr>
              <a:t>t</a:t>
            </a:r>
            <a:r>
              <a:rPr sz="2400" spc="-30" baseline="-20833" dirty="0">
                <a:solidFill>
                  <a:srgbClr val="003399"/>
                </a:solidFill>
                <a:latin typeface="Times New Roman"/>
                <a:cs typeface="Times New Roman"/>
              </a:rPr>
              <a:t>PHL</a:t>
            </a:r>
            <a:r>
              <a:rPr sz="2400" baseline="-20833" dirty="0">
                <a:solidFill>
                  <a:srgbClr val="003399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are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measured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between</a:t>
            </a:r>
            <a:r>
              <a:rPr sz="2400" spc="-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50%</a:t>
            </a:r>
            <a:r>
              <a:rPr sz="2400" spc="-1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points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on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3399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input</a:t>
            </a:r>
            <a:r>
              <a:rPr sz="2400" spc="-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and output</a:t>
            </a:r>
            <a:r>
              <a:rPr sz="2400" spc="-1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transitions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4904" y="3517392"/>
            <a:ext cx="6028944" cy="2988563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37" name="object 37"/>
          <p:cNvSpPr txBox="1"/>
          <p:nvPr/>
        </p:nvSpPr>
        <p:spPr>
          <a:xfrm>
            <a:off x="5144261" y="6290386"/>
            <a:ext cx="190373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Digital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Electronics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WPU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14</a:t>
            </a:fld>
            <a:endParaRPr spc="-25" dirty="0"/>
          </a:p>
        </p:txBody>
      </p:sp>
      <p:sp>
        <p:nvSpPr>
          <p:cNvPr id="39" name="Date Placeholder 38">
            <a:extLst>
              <a:ext uri="{FF2B5EF4-FFF2-40B4-BE49-F238E27FC236}">
                <a16:creationId xmlns:a16="http://schemas.microsoft.com/office/drawing/2014/main" id="{447E93D3-AD73-7DB4-06EA-514541AC5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D4DB-4E29-44C8-BBC3-E70C22E9F922}" type="datetime1">
              <a:rPr lang="en-US" smtClean="0"/>
              <a:t>9/30/2026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85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Characteristics of Digital ICs </a:t>
            </a:r>
            <a:br>
              <a:rPr lang="en-US" sz="36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712" y="1570630"/>
            <a:ext cx="9251202" cy="5410200"/>
          </a:xfrm>
        </p:spPr>
        <p:txBody>
          <a:bodyPr>
            <a:normAutofit/>
          </a:bodyPr>
          <a:lstStyle/>
          <a:p>
            <a:r>
              <a:rPr lang="en-US" dirty="0"/>
              <a:t>Speed of Operation</a:t>
            </a:r>
            <a:r>
              <a:rPr lang="en-US" b="1" dirty="0"/>
              <a:t>/ Propagation Delay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TPD,HL–input-to-output propagation delay from HI to LO output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TPD,LH–input-to-output propagation delay from LO to HI output</a:t>
            </a:r>
          </a:p>
          <a:p>
            <a:r>
              <a:rPr lang="en-US" sz="2000" b="1" dirty="0"/>
              <a:t>Propagation delay is average of TPD, HL and TPD, LH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D3EB5E-7E27-4C0F-8BAE-600E5422446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9/30/2026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F914A3-6CD2-4E40-9F55-1FCC0F9206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7712" y="1973559"/>
            <a:ext cx="768191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oogle Shape;1949;p1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381" y="92904"/>
            <a:ext cx="738155" cy="8224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9FEE-75F2-E14F-2600-25FD9E6A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</p:spTree>
    <p:extLst>
      <p:ext uri="{BB962C8B-B14F-4D97-AF65-F5344CB8AC3E}">
        <p14:creationId xmlns:p14="http://schemas.microsoft.com/office/powerpoint/2010/main" val="1105396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6901" y="295148"/>
            <a:ext cx="7247255" cy="4521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Digital</a:t>
            </a:r>
            <a:r>
              <a:rPr sz="2800" spc="-70" dirty="0"/>
              <a:t> </a:t>
            </a:r>
            <a:r>
              <a:rPr sz="2800" dirty="0"/>
              <a:t>IC</a:t>
            </a:r>
            <a:r>
              <a:rPr sz="2800" spc="-80" dirty="0"/>
              <a:t> </a:t>
            </a:r>
            <a:r>
              <a:rPr sz="2800" dirty="0"/>
              <a:t>Terminology</a:t>
            </a:r>
            <a:r>
              <a:rPr sz="2800" spc="-25" dirty="0"/>
              <a:t> </a:t>
            </a:r>
            <a:r>
              <a:rPr sz="2800" dirty="0"/>
              <a:t>–</a:t>
            </a:r>
            <a:r>
              <a:rPr sz="2800" spc="-70" dirty="0"/>
              <a:t> </a:t>
            </a:r>
            <a:r>
              <a:rPr sz="2800" dirty="0"/>
              <a:t>Power</a:t>
            </a:r>
            <a:r>
              <a:rPr sz="2800" spc="-60" dirty="0"/>
              <a:t> </a:t>
            </a:r>
            <a:r>
              <a:rPr sz="2800" spc="-10" dirty="0"/>
              <a:t>Requirements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085543" y="756031"/>
            <a:ext cx="8162290" cy="1328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065" indent="-342265">
              <a:lnSpc>
                <a:spcPts val="2380"/>
              </a:lnSpc>
              <a:spcBef>
                <a:spcPts val="105"/>
              </a:spcBef>
              <a:buChar char="•"/>
              <a:tabLst>
                <a:tab pos="3930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amount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power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IC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i="1" spc="-25" dirty="0">
                <a:latin typeface="Arial"/>
                <a:cs typeface="Arial"/>
              </a:rPr>
              <a:t>I</a:t>
            </a:r>
            <a:r>
              <a:rPr sz="1950" i="1" spc="-37" baseline="-21367" dirty="0">
                <a:latin typeface="Arial"/>
                <a:cs typeface="Arial"/>
              </a:rPr>
              <a:t>CC</a:t>
            </a:r>
            <a:endParaRPr sz="1950" baseline="-21367">
              <a:latin typeface="Arial"/>
              <a:cs typeface="Arial"/>
            </a:endParaRPr>
          </a:p>
          <a:p>
            <a:pPr marL="393065">
              <a:lnSpc>
                <a:spcPts val="3820"/>
              </a:lnSpc>
            </a:pPr>
            <a:r>
              <a:rPr sz="2000" dirty="0">
                <a:latin typeface="Arial MT"/>
                <a:cs typeface="Arial MT"/>
              </a:rPr>
              <a:t>(or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I</a:t>
            </a:r>
            <a:r>
              <a:rPr sz="1950" i="1" baseline="-21367" dirty="0">
                <a:latin typeface="Arial"/>
                <a:cs typeface="Arial"/>
              </a:rPr>
              <a:t>DD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draws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supply</a:t>
            </a:r>
            <a:r>
              <a:rPr sz="3200" spc="-1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393065" indent="-342265">
              <a:spcBef>
                <a:spcPts val="685"/>
              </a:spcBef>
              <a:buChar char="•"/>
              <a:tabLst>
                <a:tab pos="393065" algn="l"/>
                <a:tab pos="6315075" algn="l"/>
              </a:tabLst>
            </a:pPr>
            <a:r>
              <a:rPr sz="2800" dirty="0">
                <a:latin typeface="Arial MT"/>
                <a:cs typeface="Arial MT"/>
              </a:rPr>
              <a:t>Actual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power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product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I</a:t>
            </a:r>
            <a:r>
              <a:rPr sz="2775" i="1" baseline="-21021" dirty="0">
                <a:latin typeface="Arial"/>
                <a:cs typeface="Arial"/>
              </a:rPr>
              <a:t>CC</a:t>
            </a:r>
            <a:r>
              <a:rPr sz="2775" i="1" spc="307" baseline="-2102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i="1" spc="-25" dirty="0">
                <a:latin typeface="Arial"/>
                <a:cs typeface="Arial"/>
              </a:rPr>
              <a:t>V</a:t>
            </a:r>
            <a:r>
              <a:rPr sz="2775" i="1" spc="-37" baseline="-21021" dirty="0">
                <a:latin typeface="Arial"/>
                <a:cs typeface="Arial"/>
              </a:rPr>
              <a:t>CC</a:t>
            </a:r>
            <a:r>
              <a:rPr sz="2775" i="1" baseline="-21021" dirty="0">
                <a:latin typeface="Arial"/>
                <a:cs typeface="Arial"/>
              </a:rPr>
              <a:t>	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i="1" dirty="0">
                <a:latin typeface="Arial"/>
                <a:cs typeface="Arial"/>
              </a:rPr>
              <a:t>I</a:t>
            </a:r>
            <a:r>
              <a:rPr sz="2775" i="1" baseline="-21021" dirty="0">
                <a:latin typeface="Arial"/>
                <a:cs typeface="Arial"/>
              </a:rPr>
              <a:t>DD</a:t>
            </a:r>
            <a:r>
              <a:rPr sz="2775" i="1" spc="375" baseline="-2102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V</a:t>
            </a:r>
            <a:r>
              <a:rPr sz="2775" i="1" baseline="-21021" dirty="0">
                <a:latin typeface="Arial"/>
                <a:cs typeface="Arial"/>
              </a:rPr>
              <a:t>DD </a:t>
            </a:r>
            <a:r>
              <a:rPr sz="2800" spc="-25" dirty="0">
                <a:latin typeface="Arial MT"/>
                <a:cs typeface="Arial MT"/>
              </a:rPr>
              <a:t>).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920" y="2346960"/>
            <a:ext cx="4305300" cy="39014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0932" y="2856053"/>
            <a:ext cx="3441700" cy="1551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575" marR="5080" indent="-143510"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logic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circuits,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average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computed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based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assumption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gate</a:t>
            </a:r>
            <a:endParaRPr sz="2000">
              <a:latin typeface="Arial MT"/>
              <a:cs typeface="Arial MT"/>
            </a:endParaRPr>
          </a:p>
          <a:p>
            <a:pPr marL="120650" marR="112395" indent="190500"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outputs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half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half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time.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0021" y="4781376"/>
            <a:ext cx="3276140" cy="76050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3A04FA6E-31BF-4C4F-AA89-D42DEB8C8862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16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641842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3908" y="483235"/>
            <a:ext cx="4503420" cy="69659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Power </a:t>
            </a:r>
            <a:r>
              <a:rPr spc="-10" dirty="0"/>
              <a:t>Dissipation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0875A108-F666-4B6F-AC3D-E41F4F99547F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17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035150" y="1520469"/>
            <a:ext cx="7579995" cy="350710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81000" indent="-342900">
              <a:spcBef>
                <a:spcPts val="900"/>
              </a:spcBef>
              <a:buChar char="•"/>
              <a:tabLst>
                <a:tab pos="381000" algn="l"/>
              </a:tabLst>
            </a:pPr>
            <a:r>
              <a:rPr sz="3200" spc="-10" dirty="0">
                <a:latin typeface="Arial MT"/>
                <a:cs typeface="Arial MT"/>
              </a:rPr>
              <a:t>Static</a:t>
            </a:r>
            <a:endParaRPr sz="3200">
              <a:latin typeface="Arial MT"/>
              <a:cs typeface="Arial MT"/>
            </a:endParaRPr>
          </a:p>
          <a:p>
            <a:pPr marL="780415" marR="172085" lvl="1" indent="-285750">
              <a:spcBef>
                <a:spcPts val="690"/>
              </a:spcBef>
              <a:buChar char="–"/>
              <a:tabLst>
                <a:tab pos="781685" algn="l"/>
              </a:tabLst>
            </a:pPr>
            <a:r>
              <a:rPr sz="2800" dirty="0">
                <a:latin typeface="Arial MT"/>
                <a:cs typeface="Arial MT"/>
              </a:rPr>
              <a:t>I</a:t>
            </a:r>
            <a:r>
              <a:rPr sz="2775" baseline="25525" dirty="0">
                <a:latin typeface="Arial MT"/>
                <a:cs typeface="Arial MT"/>
              </a:rPr>
              <a:t>2</a:t>
            </a:r>
            <a:r>
              <a:rPr sz="2800" dirty="0">
                <a:latin typeface="Arial MT"/>
                <a:cs typeface="Arial MT"/>
              </a:rPr>
              <a:t>R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losses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due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passive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components,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no 	</a:t>
            </a:r>
            <a:r>
              <a:rPr sz="2800" dirty="0">
                <a:latin typeface="Arial MT"/>
                <a:cs typeface="Arial MT"/>
              </a:rPr>
              <a:t>input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signal</a:t>
            </a:r>
            <a:endParaRPr sz="2800">
              <a:latin typeface="Arial MT"/>
              <a:cs typeface="Arial MT"/>
            </a:endParaRPr>
          </a:p>
          <a:p>
            <a:pPr marL="381000" indent="-342900">
              <a:spcBef>
                <a:spcPts val="750"/>
              </a:spcBef>
              <a:buChar char="•"/>
              <a:tabLst>
                <a:tab pos="381000" algn="l"/>
              </a:tabLst>
            </a:pPr>
            <a:r>
              <a:rPr sz="3200" spc="-10" dirty="0">
                <a:latin typeface="Arial MT"/>
                <a:cs typeface="Arial MT"/>
              </a:rPr>
              <a:t>Dynamic</a:t>
            </a:r>
            <a:endParaRPr sz="3200">
              <a:latin typeface="Arial MT"/>
              <a:cs typeface="Arial MT"/>
            </a:endParaRPr>
          </a:p>
          <a:p>
            <a:pPr marL="780415" marR="30480" lvl="1" indent="-285750">
              <a:spcBef>
                <a:spcPts val="690"/>
              </a:spcBef>
              <a:buChar char="–"/>
              <a:tabLst>
                <a:tab pos="781685" algn="l"/>
              </a:tabLst>
            </a:pPr>
            <a:r>
              <a:rPr sz="2800" dirty="0">
                <a:latin typeface="Arial MT"/>
                <a:cs typeface="Arial MT"/>
              </a:rPr>
              <a:t>I</a:t>
            </a:r>
            <a:r>
              <a:rPr sz="2775" baseline="25525" dirty="0">
                <a:latin typeface="Arial MT"/>
                <a:cs typeface="Arial MT"/>
              </a:rPr>
              <a:t>2</a:t>
            </a:r>
            <a:r>
              <a:rPr sz="2800" dirty="0">
                <a:latin typeface="Arial MT"/>
                <a:cs typeface="Arial MT"/>
              </a:rPr>
              <a:t>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losses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due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charging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discharging 	</a:t>
            </a:r>
            <a:r>
              <a:rPr sz="2800" dirty="0">
                <a:latin typeface="Arial MT"/>
                <a:cs typeface="Arial MT"/>
              </a:rPr>
              <a:t>capacitances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through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resistances,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due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35" dirty="0">
                <a:latin typeface="Arial MT"/>
                <a:cs typeface="Arial MT"/>
              </a:rPr>
              <a:t>to 	</a:t>
            </a:r>
            <a:r>
              <a:rPr sz="2800" dirty="0">
                <a:latin typeface="Arial MT"/>
                <a:cs typeface="Arial MT"/>
              </a:rPr>
              <a:t>input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signal</a:t>
            </a:r>
            <a:endParaRPr sz="2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835760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1801" y="1527810"/>
            <a:ext cx="7813040" cy="39033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5080" indent="-342900">
              <a:lnSpc>
                <a:spcPts val="2590"/>
              </a:lnSpc>
              <a:spcBef>
                <a:spcPts val="42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Speed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(propagation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delay)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power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consumption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are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performance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parameters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digital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IC.</a:t>
            </a:r>
            <a:endParaRPr sz="2400" dirty="0">
              <a:latin typeface="Arial MT"/>
              <a:cs typeface="Arial MT"/>
            </a:endParaRPr>
          </a:p>
          <a:p>
            <a:pPr marL="354965" marR="61594" indent="-342900">
              <a:lnSpc>
                <a:spcPts val="259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simple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measuring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comparing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overall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performance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family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speed-</a:t>
            </a:r>
            <a:r>
              <a:rPr sz="2400" spc="-10" dirty="0">
                <a:latin typeface="Arial MT"/>
                <a:cs typeface="Arial MT"/>
              </a:rPr>
              <a:t>power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smaller,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better).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ts val="272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IC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has</a:t>
            </a:r>
            <a:endParaRPr sz="2400" dirty="0">
              <a:latin typeface="Arial MT"/>
              <a:cs typeface="Arial MT"/>
            </a:endParaRPr>
          </a:p>
          <a:p>
            <a:pPr marL="755650" lvl="1" indent="-286385">
              <a:lnSpc>
                <a:spcPts val="2905"/>
              </a:lnSpc>
              <a:buSzPct val="110416"/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average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propagation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delay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ns</a:t>
            </a:r>
            <a:endParaRPr sz="2400" dirty="0">
              <a:latin typeface="Arial MT"/>
              <a:cs typeface="Arial MT"/>
            </a:endParaRPr>
          </a:p>
          <a:p>
            <a:pPr marL="755650" lvl="1" indent="-286385">
              <a:lnSpc>
                <a:spcPts val="2880"/>
              </a:lnSpc>
              <a:buSzPct val="110416"/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average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power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dissipation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mW</a:t>
            </a:r>
            <a:endParaRPr sz="2400" dirty="0">
              <a:latin typeface="Arial MT"/>
              <a:cs typeface="Arial MT"/>
            </a:endParaRPr>
          </a:p>
          <a:p>
            <a:pPr marL="755650" lvl="1" indent="-286385">
              <a:lnSpc>
                <a:spcPts val="3005"/>
              </a:lnSpc>
              <a:buSzPct val="110416"/>
              <a:buChar char="–"/>
              <a:tabLst>
                <a:tab pos="755650" algn="l"/>
                <a:tab pos="446722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speed-</a:t>
            </a:r>
            <a:r>
              <a:rPr sz="2400" dirty="0">
                <a:latin typeface="Arial MT"/>
                <a:cs typeface="Arial MT"/>
              </a:rPr>
              <a:t>power </a:t>
            </a:r>
            <a:r>
              <a:rPr sz="2400" spc="-10" dirty="0">
                <a:latin typeface="Arial MT"/>
                <a:cs typeface="Arial MT"/>
              </a:rPr>
              <a:t>product</a:t>
            </a:r>
            <a:r>
              <a:rPr sz="2400" dirty="0">
                <a:latin typeface="Arial MT"/>
                <a:cs typeface="Arial MT"/>
              </a:rPr>
              <a:t>	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(10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ns)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(5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mW)</a:t>
            </a:r>
            <a:endParaRPr sz="2400" dirty="0">
              <a:latin typeface="Arial MT"/>
              <a:cs typeface="Arial MT"/>
            </a:endParaRPr>
          </a:p>
          <a:p>
            <a:pPr marL="4091304">
              <a:lnSpc>
                <a:spcPts val="2855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50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picoJoules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(pJ)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05461" y="556259"/>
            <a:ext cx="7685405" cy="900430"/>
            <a:chOff x="781460" y="556259"/>
            <a:chExt cx="7685405" cy="9004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460" y="784666"/>
              <a:ext cx="1205436" cy="4065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1264" y="556259"/>
              <a:ext cx="669798" cy="8999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6900" y="556259"/>
              <a:ext cx="6599682" cy="89992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76958" y="663321"/>
            <a:ext cx="7445375" cy="51371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Arial"/>
                <a:cs typeface="Arial"/>
              </a:rPr>
              <a:t>Speed-</a:t>
            </a:r>
            <a:r>
              <a:rPr sz="3200" b="1" dirty="0">
                <a:latin typeface="Arial"/>
                <a:cs typeface="Arial"/>
              </a:rPr>
              <a:t>Power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Product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(Figure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Merit)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F6038CEA-1A06-438D-B429-2A771A3387F3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18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747090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>
            <a:normAutofit fontScale="90000"/>
          </a:bodyPr>
          <a:lstStyle/>
          <a:p>
            <a:r>
              <a:rPr lang="en-US" dirty="0"/>
              <a:t>Characteristics of Digital 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0060"/>
            <a:ext cx="10515600" cy="5016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Power Supply Requirements</a:t>
            </a:r>
          </a:p>
          <a:p>
            <a:r>
              <a:rPr lang="en-US" dirty="0"/>
              <a:t>The required power requirement for the logic family</a:t>
            </a:r>
          </a:p>
          <a:p>
            <a:r>
              <a:rPr lang="en-US" dirty="0"/>
              <a:t>Should be as minimum as possible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Operating Temperature</a:t>
            </a:r>
          </a:p>
          <a:p>
            <a:r>
              <a:rPr lang="en-US" dirty="0"/>
              <a:t>-55 C to +125 C – Military and space applications</a:t>
            </a:r>
          </a:p>
          <a:p>
            <a:r>
              <a:rPr lang="en-US" dirty="0"/>
              <a:t>0 C to+70C – Commercial and Industrial Applications.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1B739E-5AC4-4564-BB1E-49F49A9A25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9/30/2026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F914A3-6CD2-4E40-9F55-1FCC0F9206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Google Shape;1949;p1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381" y="92904"/>
            <a:ext cx="738155" cy="8224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3A93D35-294A-2311-D266-05B4B64E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</p:spTree>
    <p:extLst>
      <p:ext uri="{BB962C8B-B14F-4D97-AF65-F5344CB8AC3E}">
        <p14:creationId xmlns:p14="http://schemas.microsoft.com/office/powerpoint/2010/main" val="504308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7286" y="-177038"/>
            <a:ext cx="6959253" cy="1452628"/>
          </a:xfrm>
          <a:prstGeom prst="rect">
            <a:avLst/>
          </a:prstGeom>
        </p:spPr>
        <p:txBody>
          <a:bodyPr vert="horz" wrap="square" lIns="0" tIns="1057579" rIns="0" bIns="0" rtlCol="0" anchor="ctr">
            <a:spAutoFit/>
          </a:bodyPr>
          <a:lstStyle/>
          <a:p>
            <a:pPr marL="1713230">
              <a:lnSpc>
                <a:spcPct val="100000"/>
              </a:lnSpc>
              <a:spcBef>
                <a:spcPts val="95"/>
              </a:spcBef>
            </a:pPr>
            <a:r>
              <a:rPr lang="en-US" sz="2500" b="1" dirty="0">
                <a:latin typeface="Arial"/>
                <a:cs typeface="Arial"/>
              </a:rPr>
              <a:t>Typical</a:t>
            </a:r>
            <a:r>
              <a:rPr lang="en-US" sz="2500" b="1" spc="-25" dirty="0">
                <a:latin typeface="Arial"/>
                <a:cs typeface="Arial"/>
              </a:rPr>
              <a:t> </a:t>
            </a:r>
            <a:r>
              <a:rPr lang="en-US" sz="2500" b="1" dirty="0">
                <a:latin typeface="Arial"/>
                <a:cs typeface="Arial"/>
              </a:rPr>
              <a:t>TTL</a:t>
            </a:r>
            <a:r>
              <a:rPr lang="en-US" sz="2500" b="1" spc="-55" dirty="0">
                <a:latin typeface="Arial"/>
                <a:cs typeface="Arial"/>
              </a:rPr>
              <a:t> </a:t>
            </a:r>
            <a:r>
              <a:rPr lang="en-US" sz="2500" b="1" dirty="0">
                <a:latin typeface="Arial"/>
                <a:cs typeface="Arial"/>
              </a:rPr>
              <a:t>series</a:t>
            </a:r>
            <a:r>
              <a:rPr lang="en-US" sz="2500" b="1" spc="-60" dirty="0">
                <a:latin typeface="Arial"/>
                <a:cs typeface="Arial"/>
              </a:rPr>
              <a:t> </a:t>
            </a:r>
            <a:r>
              <a:rPr lang="en-US" sz="2500" b="1" spc="-10" dirty="0">
                <a:latin typeface="Arial"/>
                <a:cs typeface="Arial"/>
              </a:rPr>
              <a:t>characteristics.</a:t>
            </a:r>
            <a:endParaRPr sz="25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2486" y="1591677"/>
            <a:ext cx="8641189" cy="44498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E812BA48-D41C-49B7-BAF2-317A73C970A4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20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071549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3885" y="282757"/>
            <a:ext cx="10515600" cy="677031"/>
          </a:xfrm>
          <a:prstGeom prst="rect">
            <a:avLst/>
          </a:prstGeom>
        </p:spPr>
        <p:txBody>
          <a:bodyPr vert="horz" wrap="square" lIns="0" tIns="182803" rIns="0" bIns="0" rtlCol="0" anchor="ctr">
            <a:spAutoFit/>
          </a:bodyPr>
          <a:lstStyle/>
          <a:p>
            <a:pPr marL="201358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Current</a:t>
            </a:r>
            <a:r>
              <a:rPr sz="3200" spc="-70" dirty="0"/>
              <a:t> </a:t>
            </a:r>
            <a:r>
              <a:rPr sz="3200" spc="-10" dirty="0"/>
              <a:t>Sourcing/Sinking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2249120" y="3051857"/>
            <a:ext cx="8037195" cy="293306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0365" indent="-342265">
              <a:spcBef>
                <a:spcPts val="890"/>
              </a:spcBef>
              <a:buFont typeface="Arial MT"/>
              <a:buChar char="•"/>
              <a:tabLst>
                <a:tab pos="380365" algn="l"/>
              </a:tabLst>
            </a:pPr>
            <a:r>
              <a:rPr sz="3200" b="1" spc="-10" dirty="0">
                <a:latin typeface="Arial"/>
                <a:cs typeface="Arial"/>
              </a:rPr>
              <a:t>Current-</a:t>
            </a:r>
            <a:r>
              <a:rPr sz="3200" b="1" dirty="0">
                <a:latin typeface="Arial"/>
                <a:cs typeface="Arial"/>
              </a:rPr>
              <a:t>sourcing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action.</a:t>
            </a:r>
            <a:endParaRPr sz="3200">
              <a:latin typeface="Arial MT"/>
              <a:cs typeface="Arial MT"/>
            </a:endParaRPr>
          </a:p>
          <a:p>
            <a:pPr marL="780415" marR="30480" lvl="1" indent="-285750">
              <a:spcBef>
                <a:spcPts val="690"/>
              </a:spcBef>
              <a:buChar char="–"/>
              <a:tabLst>
                <a:tab pos="781685" algn="l"/>
              </a:tabLst>
            </a:pPr>
            <a:r>
              <a:rPr sz="2800" dirty="0">
                <a:latin typeface="Arial MT"/>
                <a:cs typeface="Arial MT"/>
              </a:rPr>
              <a:t>When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output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gate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HIGH,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supplies 	</a:t>
            </a:r>
            <a:r>
              <a:rPr sz="2800" dirty="0">
                <a:latin typeface="Arial MT"/>
                <a:cs typeface="Arial MT"/>
              </a:rPr>
              <a:t>current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I</a:t>
            </a:r>
            <a:r>
              <a:rPr sz="2775" baseline="-21021" dirty="0">
                <a:latin typeface="Arial MT"/>
                <a:cs typeface="Arial MT"/>
              </a:rPr>
              <a:t>IH</a:t>
            </a:r>
            <a:r>
              <a:rPr sz="2775" spc="307" baseline="-21021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input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gate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2.</a:t>
            </a:r>
            <a:endParaRPr sz="2800">
              <a:latin typeface="Arial MT"/>
              <a:cs typeface="Arial MT"/>
            </a:endParaRPr>
          </a:p>
          <a:p>
            <a:pPr marL="1179830" lvl="2" indent="-227329">
              <a:spcBef>
                <a:spcPts val="595"/>
              </a:spcBef>
              <a:buChar char="•"/>
              <a:tabLst>
                <a:tab pos="1179830" algn="l"/>
              </a:tabLst>
            </a:pP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essentially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resistance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ground.</a:t>
            </a:r>
            <a:endParaRPr sz="2400">
              <a:latin typeface="Arial MT"/>
              <a:cs typeface="Arial MT"/>
            </a:endParaRPr>
          </a:p>
          <a:p>
            <a:pPr marL="780415" marR="317500" lvl="1" indent="-285750">
              <a:spcBef>
                <a:spcPts val="655"/>
              </a:spcBef>
              <a:buChar char="–"/>
              <a:tabLst>
                <a:tab pos="781685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output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gate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acting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source</a:t>
            </a:r>
            <a:r>
              <a:rPr sz="2800" i="1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 MT"/>
                <a:cs typeface="Arial MT"/>
              </a:rPr>
              <a:t>of 	</a:t>
            </a:r>
            <a:r>
              <a:rPr sz="2800" dirty="0">
                <a:latin typeface="Arial MT"/>
                <a:cs typeface="Arial MT"/>
              </a:rPr>
              <a:t>current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gate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input.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9884" y="1112520"/>
            <a:ext cx="8327135" cy="20147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006A033E-B595-41CC-B5A9-22735D097429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229" y="157157"/>
            <a:ext cx="10515600" cy="735508"/>
          </a:xfrm>
          <a:prstGeom prst="rect">
            <a:avLst/>
          </a:prstGeom>
        </p:spPr>
        <p:txBody>
          <a:bodyPr vert="horz" wrap="square" lIns="0" tIns="240715" rIns="0" bIns="0" rtlCol="0" anchor="ctr">
            <a:spAutoFit/>
          </a:bodyPr>
          <a:lstStyle/>
          <a:p>
            <a:pPr marL="208978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Current</a:t>
            </a:r>
            <a:r>
              <a:rPr sz="3200" spc="-55" dirty="0"/>
              <a:t> </a:t>
            </a:r>
            <a:r>
              <a:rPr sz="3200" spc="-10" dirty="0"/>
              <a:t>Sourcing/Sinking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2098243" y="3105189"/>
            <a:ext cx="8393430" cy="27089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0365" indent="-342265">
              <a:spcBef>
                <a:spcPts val="580"/>
              </a:spcBef>
              <a:buFont typeface="Arial MT"/>
              <a:buChar char="•"/>
              <a:tabLst>
                <a:tab pos="380365" algn="l"/>
              </a:tabLst>
            </a:pPr>
            <a:r>
              <a:rPr sz="2000" b="1" dirty="0">
                <a:latin typeface="Arial"/>
                <a:cs typeface="Arial"/>
              </a:rPr>
              <a:t>Current-sinking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action.</a:t>
            </a:r>
            <a:endParaRPr sz="2000">
              <a:latin typeface="Arial MT"/>
              <a:cs typeface="Arial MT"/>
            </a:endParaRPr>
          </a:p>
          <a:p>
            <a:pPr marL="781685" lvl="1" indent="-287020">
              <a:spcBef>
                <a:spcPts val="484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circuitry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gate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represented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resistance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+</a:t>
            </a:r>
            <a:r>
              <a:rPr sz="2000" i="1" spc="-20" dirty="0">
                <a:latin typeface="Arial"/>
                <a:cs typeface="Arial"/>
              </a:rPr>
              <a:t>V</a:t>
            </a:r>
            <a:r>
              <a:rPr sz="1950" i="1" spc="-30" baseline="-21367" dirty="0">
                <a:latin typeface="Arial"/>
                <a:cs typeface="Arial"/>
              </a:rPr>
              <a:t>CC</a:t>
            </a:r>
            <a:endParaRPr sz="1950" baseline="-21367">
              <a:latin typeface="Arial"/>
              <a:cs typeface="Arial"/>
            </a:endParaRPr>
          </a:p>
          <a:p>
            <a:pPr marL="781685"/>
            <a:r>
              <a:rPr sz="2000" dirty="0">
                <a:latin typeface="Arial MT"/>
                <a:cs typeface="Arial MT"/>
              </a:rPr>
              <a:t>—the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positive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terminal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power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supply.</a:t>
            </a:r>
            <a:endParaRPr sz="2000">
              <a:latin typeface="Arial MT"/>
              <a:cs typeface="Arial MT"/>
            </a:endParaRPr>
          </a:p>
          <a:p>
            <a:pPr marL="781685" marR="517525" lvl="1" indent="-287020">
              <a:spcBef>
                <a:spcPts val="4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gate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flow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input </a:t>
            </a:r>
            <a:r>
              <a:rPr sz="2000" dirty="0">
                <a:latin typeface="Arial MT"/>
                <a:cs typeface="Arial MT"/>
              </a:rPr>
              <a:t>circuit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back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resistance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gate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1,</a:t>
            </a:r>
            <a:r>
              <a:rPr sz="2000" spc="-25" dirty="0">
                <a:latin typeface="Arial MT"/>
                <a:cs typeface="Arial MT"/>
              </a:rPr>
              <a:t> to </a:t>
            </a:r>
            <a:r>
              <a:rPr sz="2000" spc="-10" dirty="0">
                <a:latin typeface="Arial MT"/>
                <a:cs typeface="Arial MT"/>
              </a:rPr>
              <a:t>ground.</a:t>
            </a:r>
            <a:endParaRPr sz="2000">
              <a:latin typeface="Arial MT"/>
              <a:cs typeface="Arial MT"/>
            </a:endParaRPr>
          </a:p>
          <a:p>
            <a:pPr marL="1180465" lvl="2" indent="-227965">
              <a:spcBef>
                <a:spcPts val="480"/>
              </a:spcBef>
              <a:buChar char="•"/>
              <a:tabLst>
                <a:tab pos="1180465" algn="l"/>
              </a:tabLst>
            </a:pPr>
            <a:r>
              <a:rPr sz="2000" dirty="0">
                <a:latin typeface="Arial MT"/>
                <a:cs typeface="Arial MT"/>
              </a:rPr>
              <a:t>Circuit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drives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gate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i="1" spc="-20" dirty="0">
                <a:latin typeface="Arial"/>
                <a:cs typeface="Arial"/>
              </a:rPr>
              <a:t>sink</a:t>
            </a:r>
            <a:endParaRPr sz="2000">
              <a:latin typeface="Arial"/>
              <a:cs typeface="Arial"/>
            </a:endParaRPr>
          </a:p>
          <a:p>
            <a:pPr marL="1181100"/>
            <a:r>
              <a:rPr sz="2000" dirty="0">
                <a:latin typeface="Arial MT"/>
                <a:cs typeface="Arial MT"/>
              </a:rPr>
              <a:t>a current,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I</a:t>
            </a:r>
            <a:r>
              <a:rPr sz="1950" baseline="-21367" dirty="0">
                <a:latin typeface="Arial MT"/>
                <a:cs typeface="Arial MT"/>
              </a:rPr>
              <a:t>IL</a:t>
            </a:r>
            <a:r>
              <a:rPr sz="1950" spc="270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input.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873" y="1130808"/>
            <a:ext cx="8309601" cy="20375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E8B5297D-1AC8-4F73-B51C-5B9865C4114B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606F-B5FF-F0A2-1E6D-93912057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851" y="136525"/>
            <a:ext cx="10515600" cy="102790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Quiz#1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E0106-FE6B-8F02-96C1-E79C4B88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DFBBA-33DE-F54E-BB0A-01972939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13105-F420-B9FB-2BDE-4F2694DC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7622C6-68B3-BA84-FE8B-FFD85E0F5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480" y="337251"/>
            <a:ext cx="6897911" cy="575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27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FDF5-9936-1324-648C-C801E78A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Quiz#1 solution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CE887-96AE-7ACC-C244-DB92C583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75CFA-B572-1669-2C3F-19EFD06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C4ACB-5C98-AAD9-8F74-A43DE4A7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764AC3-73C3-4979-833E-80331A136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944" y="70111"/>
            <a:ext cx="6995570" cy="678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50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3038B-3E83-F19D-B2B6-5F63FCCC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567" y="338406"/>
            <a:ext cx="10515600" cy="84912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Quiz#2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64818-739D-CACE-CE1A-EC0156264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0A975-90C1-938B-574F-E8520A46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A8485-1FF6-0D2A-BB78-6039CA71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0DB9F-A62F-6EBF-89CA-A7ADBFBA1DFC}"/>
              </a:ext>
            </a:extLst>
          </p:cNvPr>
          <p:cNvSpPr txBox="1"/>
          <p:nvPr/>
        </p:nvSpPr>
        <p:spPr>
          <a:xfrm>
            <a:off x="1277587" y="1139155"/>
            <a:ext cx="10712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logic gates shown below have a propagation delay of 20 ns. For time t &lt; 0, A = C = 0 and B = 1. At time t = 0, all the inputs flip (A = C = 1 and B = 0) and remain in that state. For t &gt; 0, the output Z = 1 for the duration (in ns) of ________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EA0082D-069E-62C0-B3C3-22EA7C468FE7}"/>
              </a:ext>
            </a:extLst>
          </p:cNvPr>
          <p:cNvCxnSpPr>
            <a:cxnSpLocks/>
          </p:cNvCxnSpPr>
          <p:nvPr/>
        </p:nvCxnSpPr>
        <p:spPr>
          <a:xfrm>
            <a:off x="3738748" y="3589371"/>
            <a:ext cx="39725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22389E0-CFC4-4A35-FDD5-3D4A64CD3AC9}"/>
              </a:ext>
            </a:extLst>
          </p:cNvPr>
          <p:cNvGrpSpPr/>
          <p:nvPr/>
        </p:nvGrpSpPr>
        <p:grpSpPr>
          <a:xfrm>
            <a:off x="1788428" y="2828835"/>
            <a:ext cx="5016133" cy="1477328"/>
            <a:chOff x="1788428" y="2828835"/>
            <a:chExt cx="5016133" cy="147732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4B2436-EEAD-E823-51E3-C58002E07D2D}"/>
                </a:ext>
              </a:extLst>
            </p:cNvPr>
            <p:cNvSpPr txBox="1"/>
            <p:nvPr/>
          </p:nvSpPr>
          <p:spPr>
            <a:xfrm>
              <a:off x="4136006" y="2912445"/>
              <a:ext cx="771896" cy="92333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b="1" dirty="0"/>
            </a:p>
            <a:p>
              <a:r>
                <a:rPr lang="en-US" b="1" dirty="0"/>
                <a:t>AND</a:t>
              </a:r>
            </a:p>
            <a:p>
              <a:endParaRPr lang="en-US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B2BF68-5E14-07A0-3DF2-74E93D018491}"/>
                </a:ext>
              </a:extLst>
            </p:cNvPr>
            <p:cNvSpPr txBox="1"/>
            <p:nvPr/>
          </p:nvSpPr>
          <p:spPr>
            <a:xfrm>
              <a:off x="3085605" y="3418114"/>
              <a:ext cx="653143" cy="369332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NOT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E87D77-FBC8-E285-0213-E7F62F42483D}"/>
                </a:ext>
              </a:extLst>
            </p:cNvPr>
            <p:cNvSpPr txBox="1"/>
            <p:nvPr/>
          </p:nvSpPr>
          <p:spPr>
            <a:xfrm>
              <a:off x="5521245" y="3236476"/>
              <a:ext cx="775997" cy="923330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endParaRPr lang="en-US" b="1" dirty="0"/>
            </a:p>
            <a:p>
              <a:r>
                <a:rPr lang="en-US" b="1" dirty="0"/>
                <a:t>EXOR</a:t>
              </a:r>
            </a:p>
            <a:p>
              <a:endParaRPr lang="en-US" b="1" dirty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AD9BBF-322F-1981-72A1-ACCD80FEC147}"/>
                </a:ext>
              </a:extLst>
            </p:cNvPr>
            <p:cNvCxnSpPr>
              <a:endCxn id="17" idx="1"/>
            </p:cNvCxnSpPr>
            <p:nvPr/>
          </p:nvCxnSpPr>
          <p:spPr>
            <a:xfrm>
              <a:off x="2113808" y="3602780"/>
              <a:ext cx="971797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BD7371A-F568-DB0C-9A07-32DF49B08DB2}"/>
                </a:ext>
              </a:extLst>
            </p:cNvPr>
            <p:cNvCxnSpPr>
              <a:cxnSpLocks/>
            </p:cNvCxnSpPr>
            <p:nvPr/>
          </p:nvCxnSpPr>
          <p:spPr>
            <a:xfrm>
              <a:off x="2147455" y="3092413"/>
              <a:ext cx="20221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DB903E-19BE-06A0-9B69-D9FDB57CE246}"/>
                </a:ext>
              </a:extLst>
            </p:cNvPr>
            <p:cNvCxnSpPr>
              <a:cxnSpLocks/>
            </p:cNvCxnSpPr>
            <p:nvPr/>
          </p:nvCxnSpPr>
          <p:spPr>
            <a:xfrm>
              <a:off x="4907902" y="3384076"/>
              <a:ext cx="61744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804D6D0-33D8-5F20-4BEE-E51B0696CC76}"/>
                </a:ext>
              </a:extLst>
            </p:cNvPr>
            <p:cNvCxnSpPr>
              <a:cxnSpLocks/>
            </p:cNvCxnSpPr>
            <p:nvPr/>
          </p:nvCxnSpPr>
          <p:spPr>
            <a:xfrm>
              <a:off x="2113808" y="4016709"/>
              <a:ext cx="3407437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0B3B82C-42B0-E1CF-C6CD-034D9204F4A4}"/>
                </a:ext>
              </a:extLst>
            </p:cNvPr>
            <p:cNvCxnSpPr>
              <a:cxnSpLocks/>
            </p:cNvCxnSpPr>
            <p:nvPr/>
          </p:nvCxnSpPr>
          <p:spPr>
            <a:xfrm>
              <a:off x="6297242" y="3698141"/>
              <a:ext cx="50731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A6874F0-7977-76EA-23DF-7172019F7C84}"/>
                </a:ext>
              </a:extLst>
            </p:cNvPr>
            <p:cNvSpPr txBox="1"/>
            <p:nvPr/>
          </p:nvSpPr>
          <p:spPr>
            <a:xfrm>
              <a:off x="1788428" y="2828835"/>
              <a:ext cx="359027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  <a:p>
              <a:endParaRPr lang="en-US" dirty="0"/>
            </a:p>
            <a:p>
              <a:r>
                <a:rPr lang="en-US" dirty="0"/>
                <a:t>B</a:t>
              </a:r>
            </a:p>
            <a:p>
              <a:endParaRPr lang="en-US" dirty="0"/>
            </a:p>
            <a:p>
              <a:r>
                <a:rPr lang="en-US" dirty="0"/>
                <a:t>C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3F353CD-A538-BF80-849C-FF183C73A585}"/>
              </a:ext>
            </a:extLst>
          </p:cNvPr>
          <p:cNvSpPr txBox="1"/>
          <p:nvPr/>
        </p:nvSpPr>
        <p:spPr>
          <a:xfrm>
            <a:off x="6896453" y="3546450"/>
            <a:ext cx="297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496809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F941-F9C7-581E-3BA2-1B954CD84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375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Quiz 2# Solution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880D5-4D65-1163-21A3-2889B1EB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900B2-1994-6DCB-A964-865802FA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F79BA-99AC-A284-9362-C2D8EBFD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36B483-4F15-C516-1AA0-528D4DDD3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163" y="985496"/>
            <a:ext cx="8019637" cy="53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36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642A-2DCE-ECEC-6B8B-139658CD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375" y="402448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Quiz#3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E395C-4CCA-4AB0-26BA-0F7EA847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12C90-05C8-E700-478E-7A332535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8C914-131C-7DCD-6DFD-D5FC2A61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4B826-9384-C66D-DA4B-D0A821CCC315}"/>
              </a:ext>
            </a:extLst>
          </p:cNvPr>
          <p:cNvSpPr txBox="1"/>
          <p:nvPr/>
        </p:nvSpPr>
        <p:spPr>
          <a:xfrm>
            <a:off x="624464" y="1438303"/>
            <a:ext cx="112705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 circuit with input signal TEST is shown below. All the gates in the circuit have identical non-zero delay. The signal TEST which was at logic LOW is switched to logic HIGH and maintained at logic HIGH. The output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stays HIGH throughout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stays LOW throughout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pulses from HIGH to LOW to HIGH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pulses from LOW to HIGH to LOW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03D8AD-002C-316E-DF89-F584914BF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375" y="2514472"/>
            <a:ext cx="9059539" cy="18290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4F1240-BA8C-95F8-80F2-C4A7CD16F640}"/>
              </a:ext>
            </a:extLst>
          </p:cNvPr>
          <p:cNvSpPr txBox="1"/>
          <p:nvPr/>
        </p:nvSpPr>
        <p:spPr>
          <a:xfrm>
            <a:off x="6611679" y="5050364"/>
            <a:ext cx="3083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Ans: C</a:t>
            </a:r>
          </a:p>
        </p:txBody>
      </p:sp>
    </p:spTree>
    <p:extLst>
      <p:ext uri="{BB962C8B-B14F-4D97-AF65-F5344CB8AC3E}">
        <p14:creationId xmlns:p14="http://schemas.microsoft.com/office/powerpoint/2010/main" val="92070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73780-DEB9-EAC0-05FF-AFF50AF4E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375" y="402448"/>
            <a:ext cx="10515600" cy="35888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# 3 Solution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02AFD-B51A-27DC-9025-E0BBE188D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A1116-E5F3-D676-5E2D-F4438029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EE554-2BF4-6167-C849-72851A50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0C41E5-9BEC-7EE0-8342-CE41246D5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005" y="920639"/>
            <a:ext cx="9969795" cy="543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57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C8EC-1D4D-65B2-746A-EBE51DD7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375" y="402448"/>
            <a:ext cx="10515600" cy="50165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Quiz#4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BD1D4-0F33-A25A-BD29-A39813FDA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FBA72-AA6E-D3A0-39E5-AF8A7B91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7F447-679E-1B6D-F62C-38A0D2A7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94E4A-5CC6-A161-B228-33BF22472FCF}"/>
              </a:ext>
            </a:extLst>
          </p:cNvPr>
          <p:cNvSpPr txBox="1"/>
          <p:nvPr/>
        </p:nvSpPr>
        <p:spPr>
          <a:xfrm>
            <a:off x="1297173" y="1089331"/>
            <a:ext cx="1059780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given circuit, the switch is momentarily closed and then opened.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Assuming the logic gates to have equal non-zero delay, at steady state, the logic states of X and Y are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X is latched, Y toggles continuously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Both X and Y are latched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Y is latched, X toggles continuously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Both X and Y toggle continuously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871EAC-0D62-D02E-2E92-2B44C71D8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582" y="2195524"/>
            <a:ext cx="3656835" cy="21000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A9DA45-3D54-F123-0479-0638DB49682E}"/>
              </a:ext>
            </a:extLst>
          </p:cNvPr>
          <p:cNvSpPr txBox="1"/>
          <p:nvPr/>
        </p:nvSpPr>
        <p:spPr>
          <a:xfrm>
            <a:off x="6858000" y="5252484"/>
            <a:ext cx="1477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Ans: D</a:t>
            </a:r>
          </a:p>
        </p:txBody>
      </p:sp>
    </p:spTree>
    <p:extLst>
      <p:ext uri="{BB962C8B-B14F-4D97-AF65-F5344CB8AC3E}">
        <p14:creationId xmlns:p14="http://schemas.microsoft.com/office/powerpoint/2010/main" val="1387722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40F-B5B0-370B-34BA-FAC8597F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Quiz#4 Solution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0567C-6A2D-505A-CF22-1331B5B3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F9585B-4098-A156-58FF-78F8C830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C37ED-CB59-145D-D9F8-A1983220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2B21CB-9144-F437-6413-DCB10C7E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26" y="1728011"/>
            <a:ext cx="10539050" cy="370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19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A182-4CB0-5C75-EAE2-6271DB83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8AC5C-1141-FF1D-B0FF-93C3977FF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96884-0500-1A0E-F691-40A54793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DD5C2-6CDD-C338-8D69-6DF4E12C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0416F-F402-28E0-FB16-1B7D62096051}"/>
              </a:ext>
            </a:extLst>
          </p:cNvPr>
          <p:cNvSpPr txBox="1"/>
          <p:nvPr/>
        </p:nvSpPr>
        <p:spPr>
          <a:xfrm>
            <a:off x="2783072" y="2255506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https://www.electronics-tutorials.ws/transistor/tran_4.html</a:t>
            </a:r>
          </a:p>
        </p:txBody>
      </p:sp>
    </p:spTree>
    <p:extLst>
      <p:ext uri="{BB962C8B-B14F-4D97-AF65-F5344CB8AC3E}">
        <p14:creationId xmlns:p14="http://schemas.microsoft.com/office/powerpoint/2010/main" val="1104636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502E5-DD8F-54A1-C3BA-2B9BEAC3F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C68149-4AAA-FEF2-00C0-3839F7FD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00967-5CB4-7C05-5A91-045629DA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D181D-0085-A08D-2A0F-0E4DC7C72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033CEF-9396-2F11-3B08-CAC987E96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422" y="651667"/>
            <a:ext cx="6650651" cy="580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630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811C6-53BD-7C65-8AC7-0D697443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Cut off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9624F-C7A9-C0E0-9699-38DD16ED6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F1D23-6DF5-890E-ABB9-7BB764F7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B1136-DB60-3B5D-8292-FE0CEE8F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136660-30AE-44D4-19F2-BDBC56A18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48" y="1728011"/>
            <a:ext cx="10569552" cy="373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2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4C9B3-93E6-9788-016F-50B3D23F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Saturation Characteristics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DE931-D672-751D-A069-109DBD39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BFEF7-AC78-F177-2F9E-73E7F628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6A60C-7B23-6CAD-2261-1D6AA748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2CB971-368A-FCE0-C7B2-7BB7796DA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75" y="1478200"/>
            <a:ext cx="10813337" cy="39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04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EA2B-907F-C412-F025-11BCFCAD0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30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 Inverter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4461EA-39B5-76FF-8458-2EF03F938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9171" y="838200"/>
            <a:ext cx="7350579" cy="507427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F28BF-A9C0-7B83-C33A-74697B85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8A08-9235-4482-AA98-169107CA1891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73E6A-CFA4-06FA-A01B-6BD7E103B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26155-4A8A-E197-DD00-C7CE1193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89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FCCC-C9A5-DCB7-559C-8B1FA89EA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 Inverter Voltage Transfer Characteristics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00CFD-EA03-1F4A-D3DB-741C3DBF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8A08-9235-4482-AA98-169107CA1891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C07DA-CD7B-0385-7E1B-D1152A95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5E736-DD1A-E3E0-0D27-B4984858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E2C815F7-D5C8-8687-DE47-D9D8D25025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9543" y="1253331"/>
            <a:ext cx="7171130" cy="4351338"/>
          </a:xfr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A8BA253-9EAE-EE16-BB16-4D0BF1608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821" y="1145054"/>
            <a:ext cx="7904757" cy="479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300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637793" y="121986"/>
            <a:ext cx="10515600" cy="1179219"/>
          </a:xfrm>
          <a:prstGeom prst="rect">
            <a:avLst/>
          </a:prstGeom>
        </p:spPr>
        <p:txBody>
          <a:bodyPr vert="horz" wrap="square" lIns="0" tIns="88315" rIns="0" bIns="0" rtlCol="0" anchor="ctr">
            <a:spAutoFit/>
          </a:bodyPr>
          <a:lstStyle/>
          <a:p>
            <a:pPr marL="586105" algn="ctr">
              <a:lnSpc>
                <a:spcPts val="5175"/>
              </a:lnSpc>
              <a:spcBef>
                <a:spcPts val="100"/>
              </a:spcBef>
            </a:pPr>
            <a:r>
              <a:rPr dirty="0"/>
              <a:t>Logic </a:t>
            </a:r>
            <a:r>
              <a:rPr spc="-10" dirty="0"/>
              <a:t>Family</a:t>
            </a:r>
          </a:p>
          <a:p>
            <a:pPr marL="506730" algn="ctr">
              <a:lnSpc>
                <a:spcPts val="3254"/>
              </a:lnSpc>
            </a:pP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basic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TTL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logic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circuit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NAND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gate.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74692" y="1488947"/>
            <a:ext cx="5270500" cy="4772660"/>
            <a:chOff x="3250692" y="1488947"/>
            <a:chExt cx="5270500" cy="47726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0692" y="1488947"/>
              <a:ext cx="5269991" cy="46451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3656" y="5693663"/>
              <a:ext cx="1076705" cy="56769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25610" y="5452669"/>
            <a:ext cx="1398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Basic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TTL</a:t>
            </a:r>
            <a:endParaRPr sz="2000">
              <a:latin typeface="Arial MT"/>
              <a:cs typeface="Arial MT"/>
            </a:endParaRPr>
          </a:p>
          <a:p>
            <a:pPr marL="12700"/>
            <a:r>
              <a:rPr sz="2000" b="1" dirty="0">
                <a:latin typeface="Arial"/>
                <a:cs typeface="Arial"/>
              </a:rPr>
              <a:t>NAND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gate.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6727" y="4587367"/>
            <a:ext cx="19716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805" marR="30480" indent="-561340"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Diode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equivalent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Q</a:t>
            </a:r>
            <a:r>
              <a:rPr sz="1950" baseline="-21367" dirty="0">
                <a:latin typeface="Arial MT"/>
                <a:cs typeface="Arial MT"/>
              </a:rPr>
              <a:t>1</a:t>
            </a:r>
            <a:r>
              <a:rPr sz="1950" spc="-7" baseline="-21367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74164" y="1655065"/>
            <a:ext cx="4902835" cy="2920365"/>
            <a:chOff x="550163" y="1655064"/>
            <a:chExt cx="4902835" cy="292036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499" y="1834896"/>
              <a:ext cx="2258568" cy="260145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63117" y="1668018"/>
              <a:ext cx="4876800" cy="2894330"/>
            </a:xfrm>
            <a:custGeom>
              <a:avLst/>
              <a:gdLst/>
              <a:ahLst/>
              <a:cxnLst/>
              <a:rect l="l" t="t" r="r" b="b"/>
              <a:pathLst>
                <a:path w="4876800" h="2894329">
                  <a:moveTo>
                    <a:pt x="3429000" y="2494787"/>
                  </a:moveTo>
                  <a:lnTo>
                    <a:pt x="4876800" y="2494787"/>
                  </a:lnTo>
                  <a:lnTo>
                    <a:pt x="4876800" y="1237487"/>
                  </a:lnTo>
                  <a:lnTo>
                    <a:pt x="3429000" y="1237487"/>
                  </a:lnTo>
                  <a:lnTo>
                    <a:pt x="3429000" y="2494787"/>
                  </a:lnTo>
                  <a:close/>
                </a:path>
                <a:path w="4876800" h="2894329">
                  <a:moveTo>
                    <a:pt x="0" y="2894075"/>
                  </a:moveTo>
                  <a:lnTo>
                    <a:pt x="2514600" y="2894075"/>
                  </a:lnTo>
                  <a:lnTo>
                    <a:pt x="2514600" y="0"/>
                  </a:lnTo>
                  <a:lnTo>
                    <a:pt x="0" y="0"/>
                  </a:lnTo>
                  <a:lnTo>
                    <a:pt x="0" y="2894075"/>
                  </a:lnTo>
                  <a:close/>
                </a:path>
              </a:pathLst>
            </a:custGeom>
            <a:ln w="259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96006" y="3115818"/>
              <a:ext cx="896619" cy="0"/>
            </a:xfrm>
            <a:custGeom>
              <a:avLst/>
              <a:gdLst/>
              <a:ahLst/>
              <a:cxnLst/>
              <a:rect l="l" t="t" r="r" b="b"/>
              <a:pathLst>
                <a:path w="896620">
                  <a:moveTo>
                    <a:pt x="896111" y="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51686E8A-2FDA-47D8-B0A5-E3BCD9830ADE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940" y="-38996"/>
            <a:ext cx="7260772" cy="1125487"/>
          </a:xfrm>
          <a:prstGeom prst="rect">
            <a:avLst/>
          </a:prstGeom>
        </p:spPr>
        <p:txBody>
          <a:bodyPr vert="horz" wrap="square" lIns="0" tIns="733602" rIns="0" bIns="0" rtlCol="0" anchor="ctr">
            <a:spAutoFit/>
          </a:bodyPr>
          <a:lstStyle/>
          <a:p>
            <a:pPr marL="2196465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latin typeface="Arial"/>
                <a:cs typeface="Arial"/>
              </a:rPr>
              <a:t>TTL</a:t>
            </a:r>
            <a:r>
              <a:rPr sz="2500" b="1" spc="-75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NAND</a:t>
            </a:r>
            <a:r>
              <a:rPr sz="2500" b="1" spc="-35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gate</a:t>
            </a:r>
            <a:r>
              <a:rPr sz="2500" b="1" spc="-25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LOW</a:t>
            </a:r>
            <a:r>
              <a:rPr sz="2500" b="1" spc="-30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output</a:t>
            </a:r>
            <a:endParaRPr sz="25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5115" y="1424736"/>
            <a:ext cx="8052816" cy="41177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61630" y="5132909"/>
            <a:ext cx="15551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Vce(sat)=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0.2v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CF52FF9D-274E-48E7-93EA-5728B9019E14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33124" y="2887471"/>
            <a:ext cx="2373630" cy="1723389"/>
            <a:chOff x="1209124" y="2887470"/>
            <a:chExt cx="2373630" cy="1723389"/>
          </a:xfrm>
        </p:grpSpPr>
        <p:sp>
          <p:nvSpPr>
            <p:cNvPr id="3" name="object 3"/>
            <p:cNvSpPr/>
            <p:nvPr/>
          </p:nvSpPr>
          <p:spPr>
            <a:xfrm>
              <a:off x="1250197" y="2928544"/>
              <a:ext cx="863600" cy="935990"/>
            </a:xfrm>
            <a:custGeom>
              <a:avLst/>
              <a:gdLst/>
              <a:ahLst/>
              <a:cxnLst/>
              <a:rect l="l" t="t" r="r" b="b"/>
              <a:pathLst>
                <a:path w="863600" h="935989">
                  <a:moveTo>
                    <a:pt x="0" y="467758"/>
                  </a:moveTo>
                  <a:lnTo>
                    <a:pt x="2532" y="518810"/>
                  </a:lnTo>
                  <a:lnTo>
                    <a:pt x="9955" y="568257"/>
                  </a:lnTo>
                  <a:lnTo>
                    <a:pt x="22004" y="615816"/>
                  </a:lnTo>
                  <a:lnTo>
                    <a:pt x="38418" y="661203"/>
                  </a:lnTo>
                  <a:lnTo>
                    <a:pt x="58933" y="704132"/>
                  </a:lnTo>
                  <a:lnTo>
                    <a:pt x="83287" y="744322"/>
                  </a:lnTo>
                  <a:lnTo>
                    <a:pt x="111216" y="781487"/>
                  </a:lnTo>
                  <a:lnTo>
                    <a:pt x="142459" y="815343"/>
                  </a:lnTo>
                  <a:lnTo>
                    <a:pt x="176751" y="845607"/>
                  </a:lnTo>
                  <a:lnTo>
                    <a:pt x="213830" y="871994"/>
                  </a:lnTo>
                  <a:lnTo>
                    <a:pt x="253434" y="894220"/>
                  </a:lnTo>
                  <a:lnTo>
                    <a:pt x="295300" y="912001"/>
                  </a:lnTo>
                  <a:lnTo>
                    <a:pt x="339164" y="925054"/>
                  </a:lnTo>
                  <a:lnTo>
                    <a:pt x="384763" y="933094"/>
                  </a:lnTo>
                  <a:lnTo>
                    <a:pt x="431836" y="935837"/>
                  </a:lnTo>
                  <a:lnTo>
                    <a:pt x="478942" y="933094"/>
                  </a:lnTo>
                  <a:lnTo>
                    <a:pt x="524565" y="925054"/>
                  </a:lnTo>
                  <a:lnTo>
                    <a:pt x="568441" y="912001"/>
                  </a:lnTo>
                  <a:lnTo>
                    <a:pt x="610311" y="894220"/>
                  </a:lnTo>
                  <a:lnTo>
                    <a:pt x="649912" y="871994"/>
                  </a:lnTo>
                  <a:lnTo>
                    <a:pt x="686982" y="845607"/>
                  </a:lnTo>
                  <a:lnTo>
                    <a:pt x="721261" y="815343"/>
                  </a:lnTo>
                  <a:lnTo>
                    <a:pt x="752487" y="781487"/>
                  </a:lnTo>
                  <a:lnTo>
                    <a:pt x="780398" y="744322"/>
                  </a:lnTo>
                  <a:lnTo>
                    <a:pt x="804732" y="704132"/>
                  </a:lnTo>
                  <a:lnTo>
                    <a:pt x="825228" y="661203"/>
                  </a:lnTo>
                  <a:lnTo>
                    <a:pt x="841625" y="615816"/>
                  </a:lnTo>
                  <a:lnTo>
                    <a:pt x="853661" y="568257"/>
                  </a:lnTo>
                  <a:lnTo>
                    <a:pt x="861074" y="518810"/>
                  </a:lnTo>
                  <a:lnTo>
                    <a:pt x="863604" y="467758"/>
                  </a:lnTo>
                  <a:lnTo>
                    <a:pt x="861074" y="416729"/>
                  </a:lnTo>
                  <a:lnTo>
                    <a:pt x="853661" y="367307"/>
                  </a:lnTo>
                  <a:lnTo>
                    <a:pt x="841625" y="319774"/>
                  </a:lnTo>
                  <a:lnTo>
                    <a:pt x="825228" y="274416"/>
                  </a:lnTo>
                  <a:lnTo>
                    <a:pt x="804732" y="231514"/>
                  </a:lnTo>
                  <a:lnTo>
                    <a:pt x="780398" y="191353"/>
                  </a:lnTo>
                  <a:lnTo>
                    <a:pt x="752487" y="154216"/>
                  </a:lnTo>
                  <a:lnTo>
                    <a:pt x="721261" y="120387"/>
                  </a:lnTo>
                  <a:lnTo>
                    <a:pt x="686982" y="90148"/>
                  </a:lnTo>
                  <a:lnTo>
                    <a:pt x="649912" y="63784"/>
                  </a:lnTo>
                  <a:lnTo>
                    <a:pt x="610311" y="41577"/>
                  </a:lnTo>
                  <a:lnTo>
                    <a:pt x="568441" y="23812"/>
                  </a:lnTo>
                  <a:lnTo>
                    <a:pt x="524565" y="10772"/>
                  </a:lnTo>
                  <a:lnTo>
                    <a:pt x="478942" y="2740"/>
                  </a:lnTo>
                  <a:lnTo>
                    <a:pt x="431836" y="0"/>
                  </a:lnTo>
                  <a:lnTo>
                    <a:pt x="384763" y="2740"/>
                  </a:lnTo>
                  <a:lnTo>
                    <a:pt x="339163" y="10772"/>
                  </a:lnTo>
                  <a:lnTo>
                    <a:pt x="295299" y="23812"/>
                  </a:lnTo>
                  <a:lnTo>
                    <a:pt x="253434" y="41577"/>
                  </a:lnTo>
                  <a:lnTo>
                    <a:pt x="213830" y="63784"/>
                  </a:lnTo>
                  <a:lnTo>
                    <a:pt x="176751" y="90148"/>
                  </a:lnTo>
                  <a:lnTo>
                    <a:pt x="142459" y="120387"/>
                  </a:lnTo>
                  <a:lnTo>
                    <a:pt x="111216" y="154216"/>
                  </a:lnTo>
                  <a:lnTo>
                    <a:pt x="83287" y="191353"/>
                  </a:lnTo>
                  <a:lnTo>
                    <a:pt x="58933" y="231514"/>
                  </a:lnTo>
                  <a:lnTo>
                    <a:pt x="38418" y="274416"/>
                  </a:lnTo>
                  <a:lnTo>
                    <a:pt x="22004" y="319774"/>
                  </a:lnTo>
                  <a:lnTo>
                    <a:pt x="9955" y="367307"/>
                  </a:lnTo>
                  <a:lnTo>
                    <a:pt x="2532" y="416729"/>
                  </a:lnTo>
                  <a:lnTo>
                    <a:pt x="0" y="467758"/>
                  </a:lnTo>
                </a:path>
              </a:pathLst>
            </a:custGeom>
            <a:ln w="818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8877" y="3271717"/>
              <a:ext cx="596900" cy="452120"/>
            </a:xfrm>
            <a:custGeom>
              <a:avLst/>
              <a:gdLst/>
              <a:ahLst/>
              <a:cxnLst/>
              <a:rect l="l" t="t" r="r" b="b"/>
              <a:pathLst>
                <a:path w="596900" h="452120">
                  <a:moveTo>
                    <a:pt x="61959" y="1283"/>
                  </a:moveTo>
                  <a:lnTo>
                    <a:pt x="477522" y="1283"/>
                  </a:lnTo>
                </a:path>
                <a:path w="596900" h="452120">
                  <a:moveTo>
                    <a:pt x="356292" y="0"/>
                  </a:moveTo>
                  <a:lnTo>
                    <a:pt x="596283" y="451824"/>
                  </a:lnTo>
                </a:path>
                <a:path w="596900" h="452120">
                  <a:moveTo>
                    <a:pt x="0" y="450541"/>
                  </a:moveTo>
                  <a:lnTo>
                    <a:pt x="38246" y="294942"/>
                  </a:lnTo>
                </a:path>
                <a:path w="596900" h="452120">
                  <a:moveTo>
                    <a:pt x="0" y="450541"/>
                  </a:moveTo>
                  <a:lnTo>
                    <a:pt x="102566" y="333975"/>
                  </a:lnTo>
                </a:path>
                <a:path w="596900" h="452120">
                  <a:moveTo>
                    <a:pt x="240100" y="1283"/>
                  </a:moveTo>
                  <a:lnTo>
                    <a:pt x="0" y="450541"/>
                  </a:lnTo>
                </a:path>
              </a:pathLst>
            </a:custGeom>
            <a:ln w="206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02724" y="3376411"/>
              <a:ext cx="626745" cy="678815"/>
            </a:xfrm>
            <a:custGeom>
              <a:avLst/>
              <a:gdLst/>
              <a:ahLst/>
              <a:cxnLst/>
              <a:rect l="l" t="t" r="r" b="b"/>
              <a:pathLst>
                <a:path w="626744" h="678814">
                  <a:moveTo>
                    <a:pt x="0" y="339108"/>
                  </a:moveTo>
                  <a:lnTo>
                    <a:pt x="3388" y="389309"/>
                  </a:lnTo>
                  <a:lnTo>
                    <a:pt x="13235" y="437192"/>
                  </a:lnTo>
                  <a:lnTo>
                    <a:pt x="29059" y="482240"/>
                  </a:lnTo>
                  <a:lnTo>
                    <a:pt x="50382" y="523932"/>
                  </a:lnTo>
                  <a:lnTo>
                    <a:pt x="76724" y="561749"/>
                  </a:lnTo>
                  <a:lnTo>
                    <a:pt x="107604" y="595173"/>
                  </a:lnTo>
                  <a:lnTo>
                    <a:pt x="142544" y="623685"/>
                  </a:lnTo>
                  <a:lnTo>
                    <a:pt x="181064" y="646764"/>
                  </a:lnTo>
                  <a:lnTo>
                    <a:pt x="222683" y="663892"/>
                  </a:lnTo>
                  <a:lnTo>
                    <a:pt x="266922" y="674549"/>
                  </a:lnTo>
                  <a:lnTo>
                    <a:pt x="313303" y="678217"/>
                  </a:lnTo>
                  <a:lnTo>
                    <a:pt x="359607" y="674549"/>
                  </a:lnTo>
                  <a:lnTo>
                    <a:pt x="403780" y="663892"/>
                  </a:lnTo>
                  <a:lnTo>
                    <a:pt x="445341" y="646764"/>
                  </a:lnTo>
                  <a:lnTo>
                    <a:pt x="483811" y="623685"/>
                  </a:lnTo>
                  <a:lnTo>
                    <a:pt x="518710" y="595173"/>
                  </a:lnTo>
                  <a:lnTo>
                    <a:pt x="549557" y="561749"/>
                  </a:lnTo>
                  <a:lnTo>
                    <a:pt x="575872" y="523932"/>
                  </a:lnTo>
                  <a:lnTo>
                    <a:pt x="597175" y="482240"/>
                  </a:lnTo>
                  <a:lnTo>
                    <a:pt x="612986" y="437192"/>
                  </a:lnTo>
                  <a:lnTo>
                    <a:pt x="622824" y="389309"/>
                  </a:lnTo>
                  <a:lnTo>
                    <a:pt x="626210" y="339108"/>
                  </a:lnTo>
                  <a:lnTo>
                    <a:pt x="622824" y="288932"/>
                  </a:lnTo>
                  <a:lnTo>
                    <a:pt x="612986" y="241064"/>
                  </a:lnTo>
                  <a:lnTo>
                    <a:pt x="597175" y="196023"/>
                  </a:lnTo>
                  <a:lnTo>
                    <a:pt x="575872" y="154332"/>
                  </a:lnTo>
                  <a:lnTo>
                    <a:pt x="549557" y="116511"/>
                  </a:lnTo>
                  <a:lnTo>
                    <a:pt x="518710" y="83079"/>
                  </a:lnTo>
                  <a:lnTo>
                    <a:pt x="483811" y="54559"/>
                  </a:lnTo>
                  <a:lnTo>
                    <a:pt x="445341" y="31470"/>
                  </a:lnTo>
                  <a:lnTo>
                    <a:pt x="403780" y="14334"/>
                  </a:lnTo>
                  <a:lnTo>
                    <a:pt x="359607" y="3670"/>
                  </a:lnTo>
                  <a:lnTo>
                    <a:pt x="313303" y="0"/>
                  </a:lnTo>
                  <a:lnTo>
                    <a:pt x="266922" y="3670"/>
                  </a:lnTo>
                  <a:lnTo>
                    <a:pt x="222683" y="14334"/>
                  </a:lnTo>
                  <a:lnTo>
                    <a:pt x="181063" y="31470"/>
                  </a:lnTo>
                  <a:lnTo>
                    <a:pt x="142544" y="54559"/>
                  </a:lnTo>
                  <a:lnTo>
                    <a:pt x="107604" y="83079"/>
                  </a:lnTo>
                  <a:lnTo>
                    <a:pt x="76724" y="116511"/>
                  </a:lnTo>
                  <a:lnTo>
                    <a:pt x="50382" y="154332"/>
                  </a:lnTo>
                  <a:lnTo>
                    <a:pt x="29059" y="196023"/>
                  </a:lnTo>
                  <a:lnTo>
                    <a:pt x="13235" y="241064"/>
                  </a:lnTo>
                  <a:lnTo>
                    <a:pt x="3388" y="288932"/>
                  </a:lnTo>
                  <a:lnTo>
                    <a:pt x="0" y="339108"/>
                  </a:lnTo>
                </a:path>
              </a:pathLst>
            </a:custGeom>
            <a:ln w="818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22583" y="3462285"/>
              <a:ext cx="475615" cy="514984"/>
            </a:xfrm>
            <a:custGeom>
              <a:avLst/>
              <a:gdLst/>
              <a:ahLst/>
              <a:cxnLst/>
              <a:rect l="l" t="t" r="r" b="b"/>
              <a:pathLst>
                <a:path w="475614" h="514985">
                  <a:moveTo>
                    <a:pt x="178141" y="385841"/>
                  </a:moveTo>
                  <a:lnTo>
                    <a:pt x="178141" y="128649"/>
                  </a:lnTo>
                </a:path>
                <a:path w="475614" h="514985">
                  <a:moveTo>
                    <a:pt x="178141" y="192814"/>
                  </a:moveTo>
                  <a:lnTo>
                    <a:pt x="475141" y="0"/>
                  </a:lnTo>
                </a:path>
                <a:path w="475614" h="514985">
                  <a:moveTo>
                    <a:pt x="178141" y="257192"/>
                  </a:moveTo>
                  <a:lnTo>
                    <a:pt x="0" y="257192"/>
                  </a:lnTo>
                </a:path>
                <a:path w="475614" h="514985">
                  <a:moveTo>
                    <a:pt x="178141" y="321463"/>
                  </a:moveTo>
                  <a:lnTo>
                    <a:pt x="178141" y="385841"/>
                  </a:lnTo>
                </a:path>
                <a:path w="475614" h="514985">
                  <a:moveTo>
                    <a:pt x="475141" y="514598"/>
                  </a:moveTo>
                  <a:lnTo>
                    <a:pt x="331680" y="469041"/>
                  </a:lnTo>
                </a:path>
                <a:path w="475614" h="514985">
                  <a:moveTo>
                    <a:pt x="475141" y="514598"/>
                  </a:moveTo>
                  <a:lnTo>
                    <a:pt x="369916" y="400599"/>
                  </a:lnTo>
                </a:path>
                <a:path w="475614" h="514985">
                  <a:moveTo>
                    <a:pt x="178141" y="321463"/>
                  </a:moveTo>
                  <a:lnTo>
                    <a:pt x="475141" y="514598"/>
                  </a:lnTo>
                </a:path>
              </a:pathLst>
            </a:custGeom>
            <a:ln w="206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15486" y="3891010"/>
              <a:ext cx="626110" cy="678815"/>
            </a:xfrm>
            <a:custGeom>
              <a:avLst/>
              <a:gdLst/>
              <a:ahLst/>
              <a:cxnLst/>
              <a:rect l="l" t="t" r="r" b="b"/>
              <a:pathLst>
                <a:path w="626110" h="678814">
                  <a:moveTo>
                    <a:pt x="0" y="339429"/>
                  </a:moveTo>
                  <a:lnTo>
                    <a:pt x="3388" y="389629"/>
                  </a:lnTo>
                  <a:lnTo>
                    <a:pt x="13233" y="437513"/>
                  </a:lnTo>
                  <a:lnTo>
                    <a:pt x="29053" y="482560"/>
                  </a:lnTo>
                  <a:lnTo>
                    <a:pt x="50368" y="524253"/>
                  </a:lnTo>
                  <a:lnTo>
                    <a:pt x="76696" y="562070"/>
                  </a:lnTo>
                  <a:lnTo>
                    <a:pt x="107556" y="595494"/>
                  </a:lnTo>
                  <a:lnTo>
                    <a:pt x="142468" y="624006"/>
                  </a:lnTo>
                  <a:lnTo>
                    <a:pt x="180949" y="647085"/>
                  </a:lnTo>
                  <a:lnTo>
                    <a:pt x="222521" y="664213"/>
                  </a:lnTo>
                  <a:lnTo>
                    <a:pt x="266700" y="674870"/>
                  </a:lnTo>
                  <a:lnTo>
                    <a:pt x="313006" y="678538"/>
                  </a:lnTo>
                  <a:lnTo>
                    <a:pt x="359313" y="674870"/>
                  </a:lnTo>
                  <a:lnTo>
                    <a:pt x="403492" y="664213"/>
                  </a:lnTo>
                  <a:lnTo>
                    <a:pt x="445063" y="647085"/>
                  </a:lnTo>
                  <a:lnTo>
                    <a:pt x="483545" y="624006"/>
                  </a:lnTo>
                  <a:lnTo>
                    <a:pt x="518456" y="595494"/>
                  </a:lnTo>
                  <a:lnTo>
                    <a:pt x="549317" y="562070"/>
                  </a:lnTo>
                  <a:lnTo>
                    <a:pt x="575644" y="524253"/>
                  </a:lnTo>
                  <a:lnTo>
                    <a:pt x="596959" y="482560"/>
                  </a:lnTo>
                  <a:lnTo>
                    <a:pt x="612779" y="437513"/>
                  </a:lnTo>
                  <a:lnTo>
                    <a:pt x="622624" y="389630"/>
                  </a:lnTo>
                  <a:lnTo>
                    <a:pt x="626013" y="339429"/>
                  </a:lnTo>
                  <a:lnTo>
                    <a:pt x="622624" y="289173"/>
                  </a:lnTo>
                  <a:lnTo>
                    <a:pt x="612779" y="241239"/>
                  </a:lnTo>
                  <a:lnTo>
                    <a:pt x="596959" y="196147"/>
                  </a:lnTo>
                  <a:lnTo>
                    <a:pt x="575644" y="154415"/>
                  </a:lnTo>
                  <a:lnTo>
                    <a:pt x="549317" y="116563"/>
                  </a:lnTo>
                  <a:lnTo>
                    <a:pt x="518456" y="83110"/>
                  </a:lnTo>
                  <a:lnTo>
                    <a:pt x="483545" y="54574"/>
                  </a:lnTo>
                  <a:lnTo>
                    <a:pt x="445063" y="31477"/>
                  </a:lnTo>
                  <a:lnTo>
                    <a:pt x="403492" y="14335"/>
                  </a:lnTo>
                  <a:lnTo>
                    <a:pt x="359313" y="3670"/>
                  </a:lnTo>
                  <a:lnTo>
                    <a:pt x="313006" y="0"/>
                  </a:lnTo>
                  <a:lnTo>
                    <a:pt x="266700" y="3670"/>
                  </a:lnTo>
                  <a:lnTo>
                    <a:pt x="222521" y="14335"/>
                  </a:lnTo>
                  <a:lnTo>
                    <a:pt x="180949" y="31477"/>
                  </a:lnTo>
                  <a:lnTo>
                    <a:pt x="142468" y="54574"/>
                  </a:lnTo>
                  <a:lnTo>
                    <a:pt x="107556" y="83110"/>
                  </a:lnTo>
                  <a:lnTo>
                    <a:pt x="76696" y="116563"/>
                  </a:lnTo>
                  <a:lnTo>
                    <a:pt x="50368" y="154415"/>
                  </a:lnTo>
                  <a:lnTo>
                    <a:pt x="29053" y="196147"/>
                  </a:lnTo>
                  <a:lnTo>
                    <a:pt x="13233" y="241239"/>
                  </a:lnTo>
                  <a:lnTo>
                    <a:pt x="3388" y="289173"/>
                  </a:lnTo>
                  <a:lnTo>
                    <a:pt x="0" y="339429"/>
                  </a:lnTo>
                </a:path>
              </a:pathLst>
            </a:custGeom>
            <a:ln w="818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29338" y="3269150"/>
              <a:ext cx="2081530" cy="1223010"/>
            </a:xfrm>
            <a:custGeom>
              <a:avLst/>
              <a:gdLst/>
              <a:ahLst/>
              <a:cxnLst/>
              <a:rect l="l" t="t" r="r" b="b"/>
              <a:pathLst>
                <a:path w="2081529" h="1223010">
                  <a:moveTo>
                    <a:pt x="1784148" y="1093896"/>
                  </a:moveTo>
                  <a:lnTo>
                    <a:pt x="1784148" y="836489"/>
                  </a:lnTo>
                </a:path>
                <a:path w="2081529" h="1223010">
                  <a:moveTo>
                    <a:pt x="1784148" y="900761"/>
                  </a:moveTo>
                  <a:lnTo>
                    <a:pt x="2081148" y="707733"/>
                  </a:lnTo>
                </a:path>
                <a:path w="2081529" h="1223010">
                  <a:moveTo>
                    <a:pt x="1784148" y="965139"/>
                  </a:moveTo>
                  <a:lnTo>
                    <a:pt x="1606006" y="965139"/>
                  </a:lnTo>
                </a:path>
                <a:path w="2081529" h="1223010">
                  <a:moveTo>
                    <a:pt x="1784148" y="1029517"/>
                  </a:moveTo>
                  <a:lnTo>
                    <a:pt x="1784148" y="1093896"/>
                  </a:lnTo>
                </a:path>
                <a:path w="2081529" h="1223010">
                  <a:moveTo>
                    <a:pt x="2081148" y="1222545"/>
                  </a:moveTo>
                  <a:lnTo>
                    <a:pt x="1937390" y="1177095"/>
                  </a:lnTo>
                </a:path>
                <a:path w="2081529" h="1223010">
                  <a:moveTo>
                    <a:pt x="2081148" y="1222545"/>
                  </a:moveTo>
                  <a:lnTo>
                    <a:pt x="1975923" y="1108653"/>
                  </a:lnTo>
                </a:path>
                <a:path w="2081529" h="1223010">
                  <a:moveTo>
                    <a:pt x="1784148" y="1029517"/>
                  </a:moveTo>
                  <a:lnTo>
                    <a:pt x="2081148" y="1222545"/>
                  </a:lnTo>
                </a:path>
                <a:path w="2081529" h="1223010">
                  <a:moveTo>
                    <a:pt x="0" y="324351"/>
                  </a:moveTo>
                  <a:lnTo>
                    <a:pt x="40884" y="168752"/>
                  </a:lnTo>
                </a:path>
                <a:path w="2081529" h="1223010">
                  <a:moveTo>
                    <a:pt x="0" y="324351"/>
                  </a:moveTo>
                  <a:lnTo>
                    <a:pt x="105195" y="210459"/>
                  </a:lnTo>
                </a:path>
                <a:path w="2081529" h="1223010">
                  <a:moveTo>
                    <a:pt x="180779" y="0"/>
                  </a:moveTo>
                  <a:lnTo>
                    <a:pt x="0" y="324351"/>
                  </a:lnTo>
                </a:path>
              </a:pathLst>
            </a:custGeom>
            <a:ln w="206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122806" y="1794331"/>
            <a:ext cx="172085" cy="596900"/>
            <a:chOff x="1598805" y="1794331"/>
            <a:chExt cx="172085" cy="596900"/>
          </a:xfrm>
        </p:grpSpPr>
        <p:sp>
          <p:nvSpPr>
            <p:cNvPr id="10" name="object 10"/>
            <p:cNvSpPr/>
            <p:nvPr/>
          </p:nvSpPr>
          <p:spPr>
            <a:xfrm>
              <a:off x="1618899" y="2035718"/>
              <a:ext cx="131445" cy="335280"/>
            </a:xfrm>
            <a:custGeom>
              <a:avLst/>
              <a:gdLst/>
              <a:ahLst/>
              <a:cxnLst/>
              <a:rect l="l" t="t" r="r" b="b"/>
              <a:pathLst>
                <a:path w="131444" h="335280">
                  <a:moveTo>
                    <a:pt x="0" y="335237"/>
                  </a:moveTo>
                  <a:lnTo>
                    <a:pt x="131269" y="335237"/>
                  </a:lnTo>
                  <a:lnTo>
                    <a:pt x="131269" y="0"/>
                  </a:lnTo>
                  <a:lnTo>
                    <a:pt x="0" y="0"/>
                  </a:lnTo>
                  <a:lnTo>
                    <a:pt x="0" y="335237"/>
                  </a:lnTo>
                  <a:close/>
                </a:path>
              </a:pathLst>
            </a:custGeom>
            <a:ln w="40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88258" y="1794331"/>
              <a:ext cx="0" cy="257810"/>
            </a:xfrm>
            <a:custGeom>
              <a:avLst/>
              <a:gdLst/>
              <a:ahLst/>
              <a:cxnLst/>
              <a:rect l="l" t="t" r="r" b="b"/>
              <a:pathLst>
                <a:path h="257810">
                  <a:moveTo>
                    <a:pt x="0" y="257406"/>
                  </a:moveTo>
                  <a:lnTo>
                    <a:pt x="0" y="0"/>
                  </a:lnTo>
                </a:path>
              </a:pathLst>
            </a:custGeom>
            <a:ln w="98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132273" y="1794332"/>
            <a:ext cx="171450" cy="1673225"/>
            <a:chOff x="2608273" y="1794331"/>
            <a:chExt cx="171450" cy="1673225"/>
          </a:xfrm>
        </p:grpSpPr>
        <p:sp>
          <p:nvSpPr>
            <p:cNvPr id="13" name="object 13"/>
            <p:cNvSpPr/>
            <p:nvPr/>
          </p:nvSpPr>
          <p:spPr>
            <a:xfrm>
              <a:off x="2628365" y="2036990"/>
              <a:ext cx="131445" cy="336550"/>
            </a:xfrm>
            <a:custGeom>
              <a:avLst/>
              <a:gdLst/>
              <a:ahLst/>
              <a:cxnLst/>
              <a:rect l="l" t="t" r="r" b="b"/>
              <a:pathLst>
                <a:path w="131444" h="336550">
                  <a:moveTo>
                    <a:pt x="0" y="336531"/>
                  </a:moveTo>
                  <a:lnTo>
                    <a:pt x="131269" y="336531"/>
                  </a:lnTo>
                  <a:lnTo>
                    <a:pt x="131269" y="0"/>
                  </a:lnTo>
                  <a:lnTo>
                    <a:pt x="0" y="0"/>
                  </a:lnTo>
                  <a:lnTo>
                    <a:pt x="0" y="336531"/>
                  </a:lnTo>
                  <a:close/>
                </a:path>
              </a:pathLst>
            </a:custGeom>
            <a:ln w="4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97725" y="1794331"/>
              <a:ext cx="0" cy="1673225"/>
            </a:xfrm>
            <a:custGeom>
              <a:avLst/>
              <a:gdLst/>
              <a:ahLst/>
              <a:cxnLst/>
              <a:rect l="l" t="t" r="r" b="b"/>
              <a:pathLst>
                <a:path h="1673225">
                  <a:moveTo>
                    <a:pt x="0" y="579190"/>
                  </a:moveTo>
                  <a:lnTo>
                    <a:pt x="0" y="1673086"/>
                  </a:lnTo>
                </a:path>
                <a:path h="1673225">
                  <a:moveTo>
                    <a:pt x="0" y="257406"/>
                  </a:moveTo>
                  <a:lnTo>
                    <a:pt x="0" y="0"/>
                  </a:lnTo>
                </a:path>
              </a:pathLst>
            </a:custGeom>
            <a:ln w="102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3509160" y="3719478"/>
            <a:ext cx="237490" cy="1905"/>
          </a:xfrm>
          <a:custGeom>
            <a:avLst/>
            <a:gdLst/>
            <a:ahLst/>
            <a:cxnLst/>
            <a:rect l="l" t="t" r="r" b="b"/>
            <a:pathLst>
              <a:path w="237489" h="1904">
                <a:moveTo>
                  <a:pt x="0" y="1497"/>
                </a:moveTo>
                <a:lnTo>
                  <a:pt x="237422" y="0"/>
                </a:lnTo>
              </a:path>
            </a:pathLst>
          </a:custGeom>
          <a:ln w="106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132271" y="3976883"/>
            <a:ext cx="327660" cy="1223010"/>
            <a:chOff x="2608271" y="3976883"/>
            <a:chExt cx="327660" cy="1223010"/>
          </a:xfrm>
        </p:grpSpPr>
        <p:sp>
          <p:nvSpPr>
            <p:cNvPr id="17" name="object 17"/>
            <p:cNvSpPr/>
            <p:nvPr/>
          </p:nvSpPr>
          <p:spPr>
            <a:xfrm>
              <a:off x="2628365" y="4416538"/>
              <a:ext cx="131445" cy="335280"/>
            </a:xfrm>
            <a:custGeom>
              <a:avLst/>
              <a:gdLst/>
              <a:ahLst/>
              <a:cxnLst/>
              <a:rect l="l" t="t" r="r" b="b"/>
              <a:pathLst>
                <a:path w="131444" h="335279">
                  <a:moveTo>
                    <a:pt x="0" y="335237"/>
                  </a:moveTo>
                  <a:lnTo>
                    <a:pt x="131269" y="335237"/>
                  </a:lnTo>
                  <a:lnTo>
                    <a:pt x="131269" y="0"/>
                  </a:lnTo>
                  <a:lnTo>
                    <a:pt x="0" y="0"/>
                  </a:lnTo>
                  <a:lnTo>
                    <a:pt x="0" y="335237"/>
                  </a:lnTo>
                  <a:close/>
                </a:path>
              </a:pathLst>
            </a:custGeom>
            <a:ln w="40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97725" y="3976883"/>
              <a:ext cx="238125" cy="1223010"/>
            </a:xfrm>
            <a:custGeom>
              <a:avLst/>
              <a:gdLst/>
              <a:ahLst/>
              <a:cxnLst/>
              <a:rect l="l" t="t" r="r" b="b"/>
              <a:pathLst>
                <a:path w="238125" h="1223010">
                  <a:moveTo>
                    <a:pt x="0" y="772304"/>
                  </a:moveTo>
                  <a:lnTo>
                    <a:pt x="0" y="1222567"/>
                  </a:lnTo>
                </a:path>
                <a:path w="238125" h="1223010">
                  <a:moveTo>
                    <a:pt x="0" y="450541"/>
                  </a:moveTo>
                  <a:lnTo>
                    <a:pt x="0" y="0"/>
                  </a:lnTo>
                </a:path>
                <a:path w="238125" h="1223010">
                  <a:moveTo>
                    <a:pt x="0" y="257406"/>
                  </a:moveTo>
                  <a:lnTo>
                    <a:pt x="237620" y="257406"/>
                  </a:lnTo>
                </a:path>
              </a:pathLst>
            </a:custGeom>
            <a:ln w="102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4934487" y="4491697"/>
            <a:ext cx="0" cy="708025"/>
          </a:xfrm>
          <a:custGeom>
            <a:avLst/>
            <a:gdLst/>
            <a:ahLst/>
            <a:cxnLst/>
            <a:rect l="l" t="t" r="r" b="b"/>
            <a:pathLst>
              <a:path h="708025">
                <a:moveTo>
                  <a:pt x="0" y="0"/>
                </a:moveTo>
                <a:lnTo>
                  <a:pt x="0" y="707754"/>
                </a:lnTo>
              </a:path>
            </a:pathLst>
          </a:custGeom>
          <a:ln w="98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4221725" y="2498634"/>
            <a:ext cx="885190" cy="1478280"/>
            <a:chOff x="2697725" y="2498634"/>
            <a:chExt cx="885190" cy="1478280"/>
          </a:xfrm>
        </p:grpSpPr>
        <p:sp>
          <p:nvSpPr>
            <p:cNvPr id="21" name="object 21"/>
            <p:cNvSpPr/>
            <p:nvPr/>
          </p:nvSpPr>
          <p:spPr>
            <a:xfrm>
              <a:off x="3291627" y="3333528"/>
              <a:ext cx="237490" cy="128905"/>
            </a:xfrm>
            <a:custGeom>
              <a:avLst/>
              <a:gdLst/>
              <a:ahLst/>
              <a:cxnLst/>
              <a:rect l="l" t="t" r="r" b="b"/>
              <a:pathLst>
                <a:path w="237489" h="128904">
                  <a:moveTo>
                    <a:pt x="0" y="0"/>
                  </a:moveTo>
                  <a:lnTo>
                    <a:pt x="118859" y="128756"/>
                  </a:lnTo>
                </a:path>
                <a:path w="237489" h="128904">
                  <a:moveTo>
                    <a:pt x="118859" y="128756"/>
                  </a:moveTo>
                  <a:lnTo>
                    <a:pt x="237422" y="0"/>
                  </a:lnTo>
                </a:path>
              </a:pathLst>
            </a:custGeom>
            <a:ln w="206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91627" y="3462285"/>
              <a:ext cx="237490" cy="0"/>
            </a:xfrm>
            <a:custGeom>
              <a:avLst/>
              <a:gdLst/>
              <a:ahLst/>
              <a:cxnLst/>
              <a:rect l="l" t="t" r="r" b="b"/>
              <a:pathLst>
                <a:path w="237489">
                  <a:moveTo>
                    <a:pt x="0" y="0"/>
                  </a:moveTo>
                  <a:lnTo>
                    <a:pt x="237422" y="0"/>
                  </a:lnTo>
                </a:path>
              </a:pathLst>
            </a:custGeom>
            <a:ln w="4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10487" y="3145848"/>
              <a:ext cx="0" cy="831215"/>
            </a:xfrm>
            <a:custGeom>
              <a:avLst/>
              <a:gdLst/>
              <a:ahLst/>
              <a:cxnLst/>
              <a:rect l="l" t="t" r="r" b="b"/>
              <a:pathLst>
                <a:path h="831214">
                  <a:moveTo>
                    <a:pt x="0" y="316437"/>
                  </a:moveTo>
                  <a:lnTo>
                    <a:pt x="0" y="831035"/>
                  </a:lnTo>
                </a:path>
                <a:path h="831214">
                  <a:moveTo>
                    <a:pt x="0" y="187680"/>
                  </a:moveTo>
                  <a:lnTo>
                    <a:pt x="0" y="0"/>
                  </a:lnTo>
                </a:path>
              </a:pathLst>
            </a:custGeom>
            <a:ln w="102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15486" y="2539708"/>
              <a:ext cx="626110" cy="678815"/>
            </a:xfrm>
            <a:custGeom>
              <a:avLst/>
              <a:gdLst/>
              <a:ahLst/>
              <a:cxnLst/>
              <a:rect l="l" t="t" r="r" b="b"/>
              <a:pathLst>
                <a:path w="626110" h="678814">
                  <a:moveTo>
                    <a:pt x="0" y="339215"/>
                  </a:moveTo>
                  <a:lnTo>
                    <a:pt x="3388" y="389469"/>
                  </a:lnTo>
                  <a:lnTo>
                    <a:pt x="13233" y="437396"/>
                  </a:lnTo>
                  <a:lnTo>
                    <a:pt x="29053" y="482478"/>
                  </a:lnTo>
                  <a:lnTo>
                    <a:pt x="50368" y="524197"/>
                  </a:lnTo>
                  <a:lnTo>
                    <a:pt x="76696" y="562036"/>
                  </a:lnTo>
                  <a:lnTo>
                    <a:pt x="107556" y="595474"/>
                  </a:lnTo>
                  <a:lnTo>
                    <a:pt x="142468" y="623995"/>
                  </a:lnTo>
                  <a:lnTo>
                    <a:pt x="180949" y="647080"/>
                  </a:lnTo>
                  <a:lnTo>
                    <a:pt x="222521" y="664211"/>
                  </a:lnTo>
                  <a:lnTo>
                    <a:pt x="266700" y="674870"/>
                  </a:lnTo>
                  <a:lnTo>
                    <a:pt x="313006" y="678538"/>
                  </a:lnTo>
                  <a:lnTo>
                    <a:pt x="359313" y="674870"/>
                  </a:lnTo>
                  <a:lnTo>
                    <a:pt x="403492" y="664211"/>
                  </a:lnTo>
                  <a:lnTo>
                    <a:pt x="445063" y="647080"/>
                  </a:lnTo>
                  <a:lnTo>
                    <a:pt x="483545" y="623995"/>
                  </a:lnTo>
                  <a:lnTo>
                    <a:pt x="518456" y="595474"/>
                  </a:lnTo>
                  <a:lnTo>
                    <a:pt x="549317" y="562036"/>
                  </a:lnTo>
                  <a:lnTo>
                    <a:pt x="575644" y="524197"/>
                  </a:lnTo>
                  <a:lnTo>
                    <a:pt x="596959" y="482478"/>
                  </a:lnTo>
                  <a:lnTo>
                    <a:pt x="612779" y="437396"/>
                  </a:lnTo>
                  <a:lnTo>
                    <a:pt x="622624" y="389469"/>
                  </a:lnTo>
                  <a:lnTo>
                    <a:pt x="626013" y="339215"/>
                  </a:lnTo>
                  <a:lnTo>
                    <a:pt x="622624" y="289012"/>
                  </a:lnTo>
                  <a:lnTo>
                    <a:pt x="612779" y="241122"/>
                  </a:lnTo>
                  <a:lnTo>
                    <a:pt x="596959" y="196065"/>
                  </a:lnTo>
                  <a:lnTo>
                    <a:pt x="575644" y="154360"/>
                  </a:lnTo>
                  <a:lnTo>
                    <a:pt x="549317" y="116528"/>
                  </a:lnTo>
                  <a:lnTo>
                    <a:pt x="518456" y="83089"/>
                  </a:lnTo>
                  <a:lnTo>
                    <a:pt x="483545" y="54564"/>
                  </a:lnTo>
                  <a:lnTo>
                    <a:pt x="445063" y="31472"/>
                  </a:lnTo>
                  <a:lnTo>
                    <a:pt x="403492" y="14334"/>
                  </a:lnTo>
                  <a:lnTo>
                    <a:pt x="359313" y="3670"/>
                  </a:lnTo>
                  <a:lnTo>
                    <a:pt x="313006" y="0"/>
                  </a:lnTo>
                  <a:lnTo>
                    <a:pt x="266700" y="3670"/>
                  </a:lnTo>
                  <a:lnTo>
                    <a:pt x="222521" y="14334"/>
                  </a:lnTo>
                  <a:lnTo>
                    <a:pt x="180949" y="31472"/>
                  </a:lnTo>
                  <a:lnTo>
                    <a:pt x="142468" y="54564"/>
                  </a:lnTo>
                  <a:lnTo>
                    <a:pt x="107556" y="83089"/>
                  </a:lnTo>
                  <a:lnTo>
                    <a:pt x="76696" y="116528"/>
                  </a:lnTo>
                  <a:lnTo>
                    <a:pt x="50368" y="154360"/>
                  </a:lnTo>
                  <a:lnTo>
                    <a:pt x="29053" y="196065"/>
                  </a:lnTo>
                  <a:lnTo>
                    <a:pt x="13233" y="241122"/>
                  </a:lnTo>
                  <a:lnTo>
                    <a:pt x="3388" y="289012"/>
                  </a:lnTo>
                  <a:lnTo>
                    <a:pt x="0" y="339215"/>
                  </a:lnTo>
                </a:path>
              </a:pathLst>
            </a:custGeom>
            <a:ln w="818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35345" y="2625581"/>
              <a:ext cx="475615" cy="514984"/>
            </a:xfrm>
            <a:custGeom>
              <a:avLst/>
              <a:gdLst/>
              <a:ahLst/>
              <a:cxnLst/>
              <a:rect l="l" t="t" r="r" b="b"/>
              <a:pathLst>
                <a:path w="475614" h="514985">
                  <a:moveTo>
                    <a:pt x="178141" y="386162"/>
                  </a:moveTo>
                  <a:lnTo>
                    <a:pt x="178141" y="128756"/>
                  </a:lnTo>
                </a:path>
                <a:path w="475614" h="514985">
                  <a:moveTo>
                    <a:pt x="178141" y="193027"/>
                  </a:moveTo>
                  <a:lnTo>
                    <a:pt x="475141" y="0"/>
                  </a:lnTo>
                </a:path>
                <a:path w="475614" h="514985">
                  <a:moveTo>
                    <a:pt x="178141" y="257406"/>
                  </a:moveTo>
                  <a:lnTo>
                    <a:pt x="0" y="257406"/>
                  </a:lnTo>
                </a:path>
                <a:path w="475614" h="514985">
                  <a:moveTo>
                    <a:pt x="178141" y="321784"/>
                  </a:moveTo>
                  <a:lnTo>
                    <a:pt x="178141" y="386162"/>
                  </a:lnTo>
                </a:path>
                <a:path w="475614" h="514985">
                  <a:moveTo>
                    <a:pt x="475141" y="514919"/>
                  </a:moveTo>
                  <a:lnTo>
                    <a:pt x="331383" y="469148"/>
                  </a:lnTo>
                </a:path>
                <a:path w="475614" h="514985">
                  <a:moveTo>
                    <a:pt x="475141" y="514919"/>
                  </a:moveTo>
                  <a:lnTo>
                    <a:pt x="369916" y="400920"/>
                  </a:lnTo>
                </a:path>
                <a:path w="475614" h="514985">
                  <a:moveTo>
                    <a:pt x="178141" y="321784"/>
                  </a:moveTo>
                  <a:lnTo>
                    <a:pt x="475141" y="514919"/>
                  </a:lnTo>
                </a:path>
              </a:pathLst>
            </a:custGeom>
            <a:ln w="206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97725" y="2882987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237620" y="0"/>
                  </a:moveTo>
                  <a:lnTo>
                    <a:pt x="0" y="0"/>
                  </a:lnTo>
                </a:path>
              </a:pathLst>
            </a:custGeom>
            <a:ln w="10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3212258" y="1789198"/>
            <a:ext cx="2256790" cy="0"/>
          </a:xfrm>
          <a:custGeom>
            <a:avLst/>
            <a:gdLst/>
            <a:ahLst/>
            <a:cxnLst/>
            <a:rect l="l" t="t" r="r" b="b"/>
            <a:pathLst>
              <a:path w="2256790">
                <a:moveTo>
                  <a:pt x="0" y="0"/>
                </a:moveTo>
                <a:lnTo>
                  <a:pt x="2256552" y="0"/>
                </a:lnTo>
              </a:path>
            </a:pathLst>
          </a:custGeom>
          <a:ln w="106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4845036" y="1789198"/>
            <a:ext cx="171450" cy="836930"/>
            <a:chOff x="3321036" y="1789198"/>
            <a:chExt cx="171450" cy="836930"/>
          </a:xfrm>
        </p:grpSpPr>
        <p:sp>
          <p:nvSpPr>
            <p:cNvPr id="29" name="object 29"/>
            <p:cNvSpPr/>
            <p:nvPr/>
          </p:nvSpPr>
          <p:spPr>
            <a:xfrm>
              <a:off x="3341127" y="2036990"/>
              <a:ext cx="131445" cy="336550"/>
            </a:xfrm>
            <a:custGeom>
              <a:avLst/>
              <a:gdLst/>
              <a:ahLst/>
              <a:cxnLst/>
              <a:rect l="l" t="t" r="r" b="b"/>
              <a:pathLst>
                <a:path w="131445" h="336550">
                  <a:moveTo>
                    <a:pt x="0" y="336531"/>
                  </a:moveTo>
                  <a:lnTo>
                    <a:pt x="131022" y="336531"/>
                  </a:lnTo>
                  <a:lnTo>
                    <a:pt x="131022" y="0"/>
                  </a:lnTo>
                  <a:lnTo>
                    <a:pt x="0" y="0"/>
                  </a:lnTo>
                  <a:lnTo>
                    <a:pt x="0" y="336531"/>
                  </a:lnTo>
                  <a:close/>
                </a:path>
              </a:pathLst>
            </a:custGeom>
            <a:ln w="401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10487" y="1789198"/>
              <a:ext cx="0" cy="836930"/>
            </a:xfrm>
            <a:custGeom>
              <a:avLst/>
              <a:gdLst/>
              <a:ahLst/>
              <a:cxnLst/>
              <a:rect l="l" t="t" r="r" b="b"/>
              <a:pathLst>
                <a:path h="836930">
                  <a:moveTo>
                    <a:pt x="0" y="578976"/>
                  </a:moveTo>
                  <a:lnTo>
                    <a:pt x="0" y="836382"/>
                  </a:lnTo>
                </a:path>
                <a:path h="836930">
                  <a:moveTo>
                    <a:pt x="0" y="257406"/>
                  </a:moveTo>
                  <a:lnTo>
                    <a:pt x="0" y="0"/>
                  </a:lnTo>
                </a:path>
              </a:pathLst>
            </a:custGeom>
            <a:ln w="102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2796438" y="3719477"/>
            <a:ext cx="0" cy="643890"/>
          </a:xfrm>
          <a:custGeom>
            <a:avLst/>
            <a:gdLst/>
            <a:ahLst/>
            <a:cxnLst/>
            <a:rect l="l" t="t" r="r" b="b"/>
            <a:pathLst>
              <a:path h="643889">
                <a:moveTo>
                  <a:pt x="0" y="643568"/>
                </a:moveTo>
                <a:lnTo>
                  <a:pt x="0" y="0"/>
                </a:lnTo>
              </a:path>
            </a:pathLst>
          </a:custGeom>
          <a:ln w="98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440185" y="3590935"/>
            <a:ext cx="0" cy="772160"/>
          </a:xfrm>
          <a:custGeom>
            <a:avLst/>
            <a:gdLst/>
            <a:ahLst/>
            <a:cxnLst/>
            <a:rect l="l" t="t" r="r" b="b"/>
            <a:pathLst>
              <a:path h="772160">
                <a:moveTo>
                  <a:pt x="0" y="772111"/>
                </a:moveTo>
                <a:lnTo>
                  <a:pt x="0" y="0"/>
                </a:lnTo>
              </a:path>
            </a:pathLst>
          </a:custGeom>
          <a:ln w="98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40185" y="4491697"/>
            <a:ext cx="0" cy="708025"/>
          </a:xfrm>
          <a:custGeom>
            <a:avLst/>
            <a:gdLst/>
            <a:ahLst/>
            <a:cxnLst/>
            <a:rect l="l" t="t" r="r" b="b"/>
            <a:pathLst>
              <a:path h="708025">
                <a:moveTo>
                  <a:pt x="0" y="0"/>
                </a:moveTo>
                <a:lnTo>
                  <a:pt x="0" y="707754"/>
                </a:lnTo>
              </a:path>
            </a:pathLst>
          </a:custGeom>
          <a:ln w="98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796438" y="4491696"/>
            <a:ext cx="0" cy="713740"/>
          </a:xfrm>
          <a:custGeom>
            <a:avLst/>
            <a:gdLst/>
            <a:ahLst/>
            <a:cxnLst/>
            <a:rect l="l" t="t" r="r" b="b"/>
            <a:pathLst>
              <a:path h="713739">
                <a:moveTo>
                  <a:pt x="0" y="0"/>
                </a:moveTo>
                <a:lnTo>
                  <a:pt x="0" y="713176"/>
                </a:lnTo>
              </a:path>
            </a:pathLst>
          </a:custGeom>
          <a:ln w="98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0785" y="3675905"/>
            <a:ext cx="82364" cy="8735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6742" y="3547149"/>
            <a:ext cx="82094" cy="87356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2995" y="3675906"/>
            <a:ext cx="82104" cy="87356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8026" y="4190505"/>
            <a:ext cx="82361" cy="87571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8025" y="2839203"/>
            <a:ext cx="82361" cy="8757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8023" y="5155900"/>
            <a:ext cx="82364" cy="8735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2995" y="5155900"/>
            <a:ext cx="82104" cy="87356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90785" y="1745305"/>
            <a:ext cx="82364" cy="8735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8023" y="1745305"/>
            <a:ext cx="82364" cy="8735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6677" y="3552721"/>
            <a:ext cx="64042" cy="68192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96677" y="3681477"/>
            <a:ext cx="64042" cy="68192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85116" y="3681478"/>
            <a:ext cx="62981" cy="6819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53567" y="1741243"/>
            <a:ext cx="82361" cy="87571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1952394" y="3366015"/>
            <a:ext cx="154940" cy="513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95"/>
              </a:spcBef>
            </a:pPr>
            <a:r>
              <a:rPr sz="1500" spc="-114" dirty="0">
                <a:latin typeface="Times New Roman"/>
                <a:cs typeface="Times New Roman"/>
              </a:rPr>
              <a:t>A </a:t>
            </a:r>
            <a:r>
              <a:rPr sz="1500" spc="-50" dirty="0">
                <a:latin typeface="Times New Roman"/>
                <a:cs typeface="Times New Roman"/>
              </a:rPr>
              <a:t>B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96633" y="3584470"/>
            <a:ext cx="473709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500" spc="-85" dirty="0">
                <a:latin typeface="Times New Roman"/>
                <a:cs typeface="Times New Roman"/>
              </a:rPr>
              <a:t>Y</a:t>
            </a:r>
            <a:r>
              <a:rPr sz="1500" spc="-40" dirty="0">
                <a:latin typeface="Times New Roman"/>
                <a:cs typeface="Times New Roman"/>
              </a:rPr>
              <a:t> O/P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08852" y="1654191"/>
            <a:ext cx="457200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500" spc="-20" dirty="0">
                <a:latin typeface="Times New Roman"/>
                <a:cs typeface="Times New Roman"/>
              </a:rPr>
              <a:t>+V</a:t>
            </a:r>
            <a:r>
              <a:rPr sz="2250" spc="-30" baseline="-18518" dirty="0">
                <a:latin typeface="Times New Roman"/>
                <a:cs typeface="Times New Roman"/>
              </a:rPr>
              <a:t>cc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80699" y="3906255"/>
            <a:ext cx="154940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500" spc="-50" dirty="0">
                <a:latin typeface="Times New Roman"/>
                <a:cs typeface="Times New Roman"/>
              </a:rPr>
              <a:t>Q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768061" y="3005493"/>
            <a:ext cx="323850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500" spc="-85" dirty="0">
                <a:latin typeface="Times New Roman"/>
                <a:cs typeface="Times New Roman"/>
              </a:rPr>
              <a:t>Q</a:t>
            </a:r>
            <a:r>
              <a:rPr sz="1500" spc="-140" dirty="0">
                <a:latin typeface="Times New Roman"/>
                <a:cs typeface="Times New Roman"/>
              </a:rPr>
              <a:t> </a:t>
            </a:r>
            <a:r>
              <a:rPr sz="2250" spc="-75" baseline="-27777" dirty="0">
                <a:latin typeface="Times New Roman"/>
                <a:cs typeface="Times New Roman"/>
              </a:rPr>
              <a:t>2</a:t>
            </a:r>
            <a:endParaRPr sz="2250" baseline="-27777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33810" y="4099389"/>
            <a:ext cx="314325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500" spc="-85" dirty="0">
                <a:latin typeface="Times New Roman"/>
                <a:cs typeface="Times New Roman"/>
              </a:rPr>
              <a:t>Q</a:t>
            </a:r>
            <a:r>
              <a:rPr sz="1500" spc="-220" dirty="0">
                <a:latin typeface="Times New Roman"/>
                <a:cs typeface="Times New Roman"/>
              </a:rPr>
              <a:t> </a:t>
            </a:r>
            <a:r>
              <a:rPr sz="2250" spc="-75" baseline="-31481" dirty="0">
                <a:latin typeface="Times New Roman"/>
                <a:cs typeface="Times New Roman"/>
              </a:rPr>
              <a:t>3</a:t>
            </a:r>
            <a:endParaRPr sz="2250" baseline="-31481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678842" y="2014712"/>
            <a:ext cx="427990" cy="513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310" marR="30480" indent="-29845">
              <a:lnSpc>
                <a:spcPct val="112599"/>
              </a:lnSpc>
              <a:spcBef>
                <a:spcPts val="95"/>
              </a:spcBef>
            </a:pPr>
            <a:r>
              <a:rPr sz="1500" spc="-65" dirty="0">
                <a:latin typeface="Times New Roman"/>
                <a:cs typeface="Times New Roman"/>
              </a:rPr>
              <a:t>1.6K </a:t>
            </a:r>
            <a:r>
              <a:rPr sz="1500" spc="-25" dirty="0">
                <a:latin typeface="Times New Roman"/>
                <a:cs typeface="Times New Roman"/>
              </a:rPr>
              <a:t>R</a:t>
            </a:r>
            <a:r>
              <a:rPr sz="2250" spc="-37" baseline="-18518" dirty="0">
                <a:latin typeface="Times New Roman"/>
                <a:cs typeface="Times New Roman"/>
              </a:rPr>
              <a:t>2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525787" y="2040140"/>
            <a:ext cx="292735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500" spc="-40" dirty="0">
                <a:latin typeface="Times New Roman"/>
                <a:cs typeface="Times New Roman"/>
              </a:rPr>
              <a:t>130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817877" y="2040139"/>
            <a:ext cx="294005" cy="4508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100" marR="30480">
              <a:lnSpc>
                <a:spcPts val="1520"/>
              </a:lnSpc>
              <a:spcBef>
                <a:spcPts val="405"/>
              </a:spcBef>
            </a:pPr>
            <a:r>
              <a:rPr sz="1500" spc="-90" dirty="0">
                <a:latin typeface="Times New Roman"/>
                <a:cs typeface="Times New Roman"/>
              </a:rPr>
              <a:t>4K </a:t>
            </a:r>
            <a:r>
              <a:rPr sz="1500" spc="-45" dirty="0">
                <a:latin typeface="Times New Roman"/>
                <a:cs typeface="Times New Roman"/>
              </a:rPr>
              <a:t>R</a:t>
            </a:r>
            <a:r>
              <a:rPr sz="2250" spc="-67" baseline="-18518" dirty="0">
                <a:latin typeface="Times New Roman"/>
                <a:cs typeface="Times New Roman"/>
              </a:rPr>
              <a:t>1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599386" y="2233168"/>
            <a:ext cx="284480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500" spc="-25" dirty="0">
                <a:latin typeface="Times New Roman"/>
                <a:cs typeface="Times New Roman"/>
              </a:rPr>
              <a:t>R</a:t>
            </a:r>
            <a:r>
              <a:rPr sz="2250" spc="-37" baseline="-18518" dirty="0">
                <a:latin typeface="Times New Roman"/>
                <a:cs typeface="Times New Roman"/>
              </a:rPr>
              <a:t>3</a:t>
            </a:r>
            <a:endParaRPr sz="2250" baseline="-18518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440186" y="5155900"/>
            <a:ext cx="2613025" cy="386715"/>
            <a:chOff x="916185" y="5155899"/>
            <a:chExt cx="2613025" cy="386715"/>
          </a:xfrm>
        </p:grpSpPr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66785" y="5155899"/>
              <a:ext cx="82364" cy="236622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916185" y="5199450"/>
              <a:ext cx="2494915" cy="0"/>
            </a:xfrm>
            <a:custGeom>
              <a:avLst/>
              <a:gdLst/>
              <a:ahLst/>
              <a:cxnLst/>
              <a:rect l="l" t="t" r="r" b="b"/>
              <a:pathLst>
                <a:path w="2494915">
                  <a:moveTo>
                    <a:pt x="0" y="0"/>
                  </a:moveTo>
                  <a:lnTo>
                    <a:pt x="2494301" y="0"/>
                  </a:lnTo>
                </a:path>
              </a:pathLst>
            </a:custGeom>
            <a:ln w="10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91627" y="5392521"/>
              <a:ext cx="237490" cy="128905"/>
            </a:xfrm>
            <a:custGeom>
              <a:avLst/>
              <a:gdLst/>
              <a:ahLst/>
              <a:cxnLst/>
              <a:rect l="l" t="t" r="r" b="b"/>
              <a:pathLst>
                <a:path w="237489" h="128904">
                  <a:moveTo>
                    <a:pt x="0" y="0"/>
                  </a:moveTo>
                  <a:lnTo>
                    <a:pt x="237422" y="0"/>
                  </a:lnTo>
                </a:path>
                <a:path w="237489" h="128904">
                  <a:moveTo>
                    <a:pt x="59281" y="64363"/>
                  </a:moveTo>
                  <a:lnTo>
                    <a:pt x="178141" y="64363"/>
                  </a:lnTo>
                </a:path>
                <a:path w="237489" h="128904">
                  <a:moveTo>
                    <a:pt x="92775" y="128722"/>
                  </a:moveTo>
                  <a:lnTo>
                    <a:pt x="152057" y="127430"/>
                  </a:lnTo>
                </a:path>
              </a:pathLst>
            </a:custGeom>
            <a:ln w="41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842164" y="4414447"/>
            <a:ext cx="301625" cy="46545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45085" marR="30480" indent="-7620">
              <a:lnSpc>
                <a:spcPts val="1639"/>
              </a:lnSpc>
              <a:spcBef>
                <a:spcPts val="310"/>
              </a:spcBef>
            </a:pPr>
            <a:r>
              <a:rPr sz="1500" spc="-55" dirty="0">
                <a:latin typeface="Times New Roman"/>
                <a:cs typeface="Times New Roman"/>
              </a:rPr>
              <a:t>1K </a:t>
            </a:r>
            <a:r>
              <a:rPr sz="1500" spc="-35" dirty="0">
                <a:latin typeface="Times New Roman"/>
                <a:cs typeface="Times New Roman"/>
              </a:rPr>
              <a:t>R</a:t>
            </a:r>
            <a:r>
              <a:rPr sz="2250" spc="-52" baseline="-18518" dirty="0">
                <a:latin typeface="Times New Roman"/>
                <a:cs typeface="Times New Roman"/>
              </a:rPr>
              <a:t>4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390401" y="3934001"/>
            <a:ext cx="356235" cy="81915"/>
          </a:xfrm>
          <a:custGeom>
            <a:avLst/>
            <a:gdLst/>
            <a:ahLst/>
            <a:cxnLst/>
            <a:rect l="l" t="t" r="r" b="b"/>
            <a:pathLst>
              <a:path w="356235" h="81914">
                <a:moveTo>
                  <a:pt x="0" y="42883"/>
                </a:moveTo>
                <a:lnTo>
                  <a:pt x="142176" y="0"/>
                </a:lnTo>
              </a:path>
              <a:path w="356235" h="81914">
                <a:moveTo>
                  <a:pt x="0" y="42883"/>
                </a:moveTo>
                <a:lnTo>
                  <a:pt x="143461" y="81916"/>
                </a:lnTo>
              </a:path>
              <a:path w="356235" h="81914">
                <a:moveTo>
                  <a:pt x="356183" y="42883"/>
                </a:moveTo>
                <a:lnTo>
                  <a:pt x="0" y="42883"/>
                </a:lnTo>
              </a:path>
            </a:pathLst>
          </a:custGeom>
          <a:ln w="10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3199558" y="4035011"/>
            <a:ext cx="379730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  <a:tabLst>
                <a:tab pos="306705" algn="l"/>
              </a:tabLst>
            </a:pPr>
            <a:r>
              <a:rPr sz="1500" spc="-50" dirty="0">
                <a:latin typeface="Times New Roman"/>
                <a:cs typeface="Times New Roman"/>
              </a:rPr>
              <a:t>1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50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592793" y="4146506"/>
            <a:ext cx="255270" cy="16863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1000" spc="-25" dirty="0">
                <a:latin typeface="Times New Roman"/>
                <a:cs typeface="Times New Roman"/>
              </a:rPr>
              <a:t>CQ1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074429" y="2683708"/>
            <a:ext cx="331470" cy="8235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500" spc="-85" dirty="0">
                <a:latin typeface="Times New Roman"/>
                <a:cs typeface="Times New Roman"/>
              </a:rPr>
              <a:t>Q</a:t>
            </a:r>
            <a:r>
              <a:rPr sz="1500" spc="-220" dirty="0">
                <a:latin typeface="Times New Roman"/>
                <a:cs typeface="Times New Roman"/>
              </a:rPr>
              <a:t> </a:t>
            </a:r>
            <a:r>
              <a:rPr sz="2250" spc="-75" baseline="-31481" dirty="0">
                <a:latin typeface="Times New Roman"/>
                <a:cs typeface="Times New Roman"/>
              </a:rPr>
              <a:t>4</a:t>
            </a:r>
            <a:endParaRPr sz="2250" baseline="-31481">
              <a:latin typeface="Times New Roman"/>
              <a:cs typeface="Times New Roman"/>
            </a:endParaRPr>
          </a:p>
          <a:p>
            <a:pPr>
              <a:spcBef>
                <a:spcPts val="930"/>
              </a:spcBef>
            </a:pPr>
            <a:endParaRPr sz="1500">
              <a:latin typeface="Times New Roman"/>
              <a:cs typeface="Times New Roman"/>
            </a:endParaRPr>
          </a:p>
          <a:p>
            <a:pPr marL="45085"/>
            <a:r>
              <a:rPr sz="1500" spc="-85" dirty="0">
                <a:latin typeface="Times New Roman"/>
                <a:cs typeface="Times New Roman"/>
              </a:rPr>
              <a:t>D</a:t>
            </a:r>
            <a:r>
              <a:rPr sz="1500" spc="-140" dirty="0">
                <a:latin typeface="Times New Roman"/>
                <a:cs typeface="Times New Roman"/>
              </a:rPr>
              <a:t> </a:t>
            </a:r>
            <a:r>
              <a:rPr sz="2250" spc="-75" baseline="-22222" dirty="0">
                <a:latin typeface="Times New Roman"/>
                <a:cs typeface="Times New Roman"/>
              </a:rPr>
              <a:t>3</a:t>
            </a:r>
            <a:endParaRPr sz="2250" baseline="-22222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033393" y="4268142"/>
            <a:ext cx="304800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500" spc="-25" dirty="0">
                <a:latin typeface="Times New Roman"/>
                <a:cs typeface="Times New Roman"/>
              </a:rPr>
              <a:t>D</a:t>
            </a:r>
            <a:r>
              <a:rPr sz="2250" spc="-37" baseline="-35185" dirty="0">
                <a:latin typeface="Times New Roman"/>
                <a:cs typeface="Times New Roman"/>
              </a:rPr>
              <a:t>1</a:t>
            </a:r>
            <a:endParaRPr sz="2250" baseline="-35185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973788" y="4311057"/>
            <a:ext cx="304165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500" spc="-25" dirty="0">
                <a:latin typeface="Times New Roman"/>
                <a:cs typeface="Times New Roman"/>
              </a:rPr>
              <a:t>D</a:t>
            </a:r>
            <a:r>
              <a:rPr sz="2250" spc="-37" baseline="-22222" dirty="0">
                <a:latin typeface="Times New Roman"/>
                <a:cs typeface="Times New Roman"/>
              </a:rPr>
              <a:t>2</a:t>
            </a:r>
            <a:endParaRPr sz="2250" baseline="-22222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934488" y="3719477"/>
            <a:ext cx="356235" cy="0"/>
          </a:xfrm>
          <a:custGeom>
            <a:avLst/>
            <a:gdLst/>
            <a:ahLst/>
            <a:cxnLst/>
            <a:rect l="l" t="t" r="r" b="b"/>
            <a:pathLst>
              <a:path w="356235">
                <a:moveTo>
                  <a:pt x="0" y="0"/>
                </a:moveTo>
                <a:lnTo>
                  <a:pt x="356183" y="0"/>
                </a:lnTo>
              </a:path>
            </a:pathLst>
          </a:custGeom>
          <a:ln w="106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0" name="object 70"/>
          <p:cNvGrpSpPr/>
          <p:nvPr/>
        </p:nvGrpSpPr>
        <p:grpSpPr>
          <a:xfrm>
            <a:off x="4803994" y="3317867"/>
            <a:ext cx="258445" cy="153670"/>
            <a:chOff x="3279993" y="3317867"/>
            <a:chExt cx="258445" cy="153670"/>
          </a:xfrm>
        </p:grpSpPr>
        <p:pic>
          <p:nvPicPr>
            <p:cNvPr id="71" name="object 7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86515" y="3317867"/>
              <a:ext cx="242534" cy="142813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290442" y="3332031"/>
              <a:ext cx="237490" cy="128905"/>
            </a:xfrm>
            <a:custGeom>
              <a:avLst/>
              <a:gdLst/>
              <a:ahLst/>
              <a:cxnLst/>
              <a:rect l="l" t="t" r="r" b="b"/>
              <a:pathLst>
                <a:path w="237489" h="128904">
                  <a:moveTo>
                    <a:pt x="0" y="0"/>
                  </a:moveTo>
                  <a:lnTo>
                    <a:pt x="118563" y="128649"/>
                  </a:lnTo>
                  <a:lnTo>
                    <a:pt x="237422" y="1497"/>
                  </a:lnTo>
                  <a:lnTo>
                    <a:pt x="0" y="0"/>
                  </a:lnTo>
                </a:path>
              </a:pathLst>
            </a:custGeom>
            <a:ln w="208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object 73"/>
          <p:cNvGrpSpPr/>
          <p:nvPr/>
        </p:nvGrpSpPr>
        <p:grpSpPr>
          <a:xfrm>
            <a:off x="2311145" y="4341696"/>
            <a:ext cx="258445" cy="161290"/>
            <a:chOff x="787144" y="4341696"/>
            <a:chExt cx="258445" cy="161290"/>
          </a:xfrm>
        </p:grpSpPr>
        <p:sp>
          <p:nvSpPr>
            <p:cNvPr id="74" name="object 74"/>
            <p:cNvSpPr/>
            <p:nvPr/>
          </p:nvSpPr>
          <p:spPr>
            <a:xfrm>
              <a:off x="797592" y="4363046"/>
              <a:ext cx="237490" cy="128905"/>
            </a:xfrm>
            <a:custGeom>
              <a:avLst/>
              <a:gdLst/>
              <a:ahLst/>
              <a:cxnLst/>
              <a:rect l="l" t="t" r="r" b="b"/>
              <a:pathLst>
                <a:path w="237490" h="128904">
                  <a:moveTo>
                    <a:pt x="0" y="128649"/>
                  </a:moveTo>
                  <a:lnTo>
                    <a:pt x="118592" y="0"/>
                  </a:lnTo>
                </a:path>
                <a:path w="237490" h="128904">
                  <a:moveTo>
                    <a:pt x="118592" y="0"/>
                  </a:moveTo>
                  <a:lnTo>
                    <a:pt x="237422" y="128649"/>
                  </a:lnTo>
                </a:path>
              </a:pathLst>
            </a:custGeom>
            <a:ln w="206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97592" y="4363046"/>
              <a:ext cx="237490" cy="0"/>
            </a:xfrm>
            <a:custGeom>
              <a:avLst/>
              <a:gdLst/>
              <a:ahLst/>
              <a:cxnLst/>
              <a:rect l="l" t="t" r="r" b="b"/>
              <a:pathLst>
                <a:path w="237490">
                  <a:moveTo>
                    <a:pt x="0" y="0"/>
                  </a:moveTo>
                  <a:lnTo>
                    <a:pt x="237422" y="0"/>
                  </a:lnTo>
                </a:path>
              </a:pathLst>
            </a:custGeom>
            <a:ln w="4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97592" y="4491696"/>
              <a:ext cx="237490" cy="0"/>
            </a:xfrm>
            <a:custGeom>
              <a:avLst/>
              <a:gdLst/>
              <a:ahLst/>
              <a:cxnLst/>
              <a:rect l="l" t="t" r="r" b="b"/>
              <a:pathLst>
                <a:path w="237490">
                  <a:moveTo>
                    <a:pt x="0" y="0"/>
                  </a:moveTo>
                  <a:lnTo>
                    <a:pt x="237422" y="0"/>
                  </a:lnTo>
                </a:path>
              </a:pathLst>
            </a:custGeom>
            <a:ln w="214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97592" y="4363046"/>
              <a:ext cx="237490" cy="128905"/>
            </a:xfrm>
            <a:custGeom>
              <a:avLst/>
              <a:gdLst/>
              <a:ahLst/>
              <a:cxnLst/>
              <a:rect l="l" t="t" r="r" b="b"/>
              <a:pathLst>
                <a:path w="237490" h="128904">
                  <a:moveTo>
                    <a:pt x="118592" y="0"/>
                  </a:moveTo>
                  <a:lnTo>
                    <a:pt x="0" y="128649"/>
                  </a:lnTo>
                  <a:lnTo>
                    <a:pt x="237422" y="128649"/>
                  </a:lnTo>
                  <a:lnTo>
                    <a:pt x="118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97592" y="4363046"/>
              <a:ext cx="237490" cy="128905"/>
            </a:xfrm>
            <a:custGeom>
              <a:avLst/>
              <a:gdLst/>
              <a:ahLst/>
              <a:cxnLst/>
              <a:rect l="l" t="t" r="r" b="b"/>
              <a:pathLst>
                <a:path w="237490" h="128904">
                  <a:moveTo>
                    <a:pt x="118592" y="0"/>
                  </a:moveTo>
                  <a:lnTo>
                    <a:pt x="0" y="128649"/>
                  </a:lnTo>
                  <a:lnTo>
                    <a:pt x="237422" y="128649"/>
                  </a:lnTo>
                  <a:lnTo>
                    <a:pt x="118592" y="0"/>
                  </a:lnTo>
                </a:path>
              </a:pathLst>
            </a:custGeom>
            <a:ln w="208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2667397" y="4341696"/>
            <a:ext cx="258445" cy="161290"/>
            <a:chOff x="1143396" y="4341696"/>
            <a:chExt cx="258445" cy="161290"/>
          </a:xfrm>
        </p:grpSpPr>
        <p:sp>
          <p:nvSpPr>
            <p:cNvPr id="80" name="object 80"/>
            <p:cNvSpPr/>
            <p:nvPr/>
          </p:nvSpPr>
          <p:spPr>
            <a:xfrm>
              <a:off x="1153845" y="4363046"/>
              <a:ext cx="237490" cy="128905"/>
            </a:xfrm>
            <a:custGeom>
              <a:avLst/>
              <a:gdLst/>
              <a:ahLst/>
              <a:cxnLst/>
              <a:rect l="l" t="t" r="r" b="b"/>
              <a:pathLst>
                <a:path w="237490" h="128904">
                  <a:moveTo>
                    <a:pt x="0" y="128649"/>
                  </a:moveTo>
                  <a:lnTo>
                    <a:pt x="118592" y="0"/>
                  </a:lnTo>
                </a:path>
                <a:path w="237490" h="128904">
                  <a:moveTo>
                    <a:pt x="118592" y="0"/>
                  </a:moveTo>
                  <a:lnTo>
                    <a:pt x="237422" y="128649"/>
                  </a:lnTo>
                </a:path>
              </a:pathLst>
            </a:custGeom>
            <a:ln w="206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53845" y="4363046"/>
              <a:ext cx="237490" cy="0"/>
            </a:xfrm>
            <a:custGeom>
              <a:avLst/>
              <a:gdLst/>
              <a:ahLst/>
              <a:cxnLst/>
              <a:rect l="l" t="t" r="r" b="b"/>
              <a:pathLst>
                <a:path w="237490">
                  <a:moveTo>
                    <a:pt x="0" y="0"/>
                  </a:moveTo>
                  <a:lnTo>
                    <a:pt x="237422" y="0"/>
                  </a:lnTo>
                </a:path>
              </a:pathLst>
            </a:custGeom>
            <a:ln w="4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153845" y="4491696"/>
              <a:ext cx="237490" cy="0"/>
            </a:xfrm>
            <a:custGeom>
              <a:avLst/>
              <a:gdLst/>
              <a:ahLst/>
              <a:cxnLst/>
              <a:rect l="l" t="t" r="r" b="b"/>
              <a:pathLst>
                <a:path w="237490">
                  <a:moveTo>
                    <a:pt x="0" y="0"/>
                  </a:moveTo>
                  <a:lnTo>
                    <a:pt x="237422" y="0"/>
                  </a:lnTo>
                </a:path>
              </a:pathLst>
            </a:custGeom>
            <a:ln w="214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153845" y="4363046"/>
              <a:ext cx="237490" cy="128905"/>
            </a:xfrm>
            <a:custGeom>
              <a:avLst/>
              <a:gdLst/>
              <a:ahLst/>
              <a:cxnLst/>
              <a:rect l="l" t="t" r="r" b="b"/>
              <a:pathLst>
                <a:path w="237490" h="128904">
                  <a:moveTo>
                    <a:pt x="118592" y="0"/>
                  </a:moveTo>
                  <a:lnTo>
                    <a:pt x="0" y="128649"/>
                  </a:lnTo>
                  <a:lnTo>
                    <a:pt x="237422" y="128649"/>
                  </a:lnTo>
                  <a:lnTo>
                    <a:pt x="118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153845" y="4363046"/>
              <a:ext cx="237490" cy="128905"/>
            </a:xfrm>
            <a:custGeom>
              <a:avLst/>
              <a:gdLst/>
              <a:ahLst/>
              <a:cxnLst/>
              <a:rect l="l" t="t" r="r" b="b"/>
              <a:pathLst>
                <a:path w="237490" h="128904">
                  <a:moveTo>
                    <a:pt x="118592" y="0"/>
                  </a:moveTo>
                  <a:lnTo>
                    <a:pt x="0" y="128649"/>
                  </a:lnTo>
                  <a:lnTo>
                    <a:pt x="237422" y="128649"/>
                  </a:lnTo>
                  <a:lnTo>
                    <a:pt x="118592" y="0"/>
                  </a:lnTo>
                </a:path>
              </a:pathLst>
            </a:custGeom>
            <a:ln w="208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5" name="object 85"/>
          <p:cNvGrpSpPr/>
          <p:nvPr/>
        </p:nvGrpSpPr>
        <p:grpSpPr>
          <a:xfrm>
            <a:off x="2262055" y="2368175"/>
            <a:ext cx="955675" cy="1379220"/>
            <a:chOff x="738054" y="2368175"/>
            <a:chExt cx="955675" cy="1379220"/>
          </a:xfrm>
        </p:grpSpPr>
        <p:sp>
          <p:nvSpPr>
            <p:cNvPr id="86" name="object 86"/>
            <p:cNvSpPr/>
            <p:nvPr/>
          </p:nvSpPr>
          <p:spPr>
            <a:xfrm>
              <a:off x="738054" y="2368175"/>
              <a:ext cx="950594" cy="1351915"/>
            </a:xfrm>
            <a:custGeom>
              <a:avLst/>
              <a:gdLst/>
              <a:ahLst/>
              <a:cxnLst/>
              <a:rect l="l" t="t" r="r" b="b"/>
              <a:pathLst>
                <a:path w="950594" h="1351914">
                  <a:moveTo>
                    <a:pt x="950204" y="0"/>
                  </a:moveTo>
                  <a:lnTo>
                    <a:pt x="950204" y="579190"/>
                  </a:lnTo>
                </a:path>
                <a:path w="950594" h="1351914">
                  <a:moveTo>
                    <a:pt x="950204" y="579190"/>
                  </a:moveTo>
                  <a:lnTo>
                    <a:pt x="950204" y="900975"/>
                  </a:lnTo>
                </a:path>
                <a:path w="950594" h="1351914">
                  <a:moveTo>
                    <a:pt x="0" y="1222759"/>
                  </a:moveTo>
                  <a:lnTo>
                    <a:pt x="593922" y="1222759"/>
                  </a:lnTo>
                </a:path>
                <a:path w="950594" h="1351914">
                  <a:moveTo>
                    <a:pt x="0" y="1351302"/>
                  </a:moveTo>
                  <a:lnTo>
                    <a:pt x="653213" y="1351302"/>
                  </a:lnTo>
                </a:path>
              </a:pathLst>
            </a:custGeom>
            <a:ln w="102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344930" y="3247389"/>
              <a:ext cx="309245" cy="499745"/>
            </a:xfrm>
            <a:custGeom>
              <a:avLst/>
              <a:gdLst/>
              <a:ahLst/>
              <a:cxnLst/>
              <a:rect l="l" t="t" r="r" b="b"/>
              <a:pathLst>
                <a:path w="309244" h="499745">
                  <a:moveTo>
                    <a:pt x="192913" y="20574"/>
                  </a:moveTo>
                  <a:lnTo>
                    <a:pt x="167767" y="7112"/>
                  </a:lnTo>
                  <a:lnTo>
                    <a:pt x="27952" y="267119"/>
                  </a:lnTo>
                  <a:lnTo>
                    <a:pt x="2794" y="253619"/>
                  </a:lnTo>
                  <a:lnTo>
                    <a:pt x="0" y="349377"/>
                  </a:lnTo>
                  <a:lnTo>
                    <a:pt x="78359" y="294132"/>
                  </a:lnTo>
                  <a:lnTo>
                    <a:pt x="76695" y="293255"/>
                  </a:lnTo>
                  <a:lnTo>
                    <a:pt x="53136" y="280619"/>
                  </a:lnTo>
                  <a:lnTo>
                    <a:pt x="192913" y="20574"/>
                  </a:lnTo>
                  <a:close/>
                </a:path>
                <a:path w="309244" h="499745">
                  <a:moveTo>
                    <a:pt x="308737" y="12827"/>
                  </a:moveTo>
                  <a:lnTo>
                    <a:pt x="283197" y="0"/>
                  </a:lnTo>
                  <a:lnTo>
                    <a:pt x="74942" y="416636"/>
                  </a:lnTo>
                  <a:lnTo>
                    <a:pt x="49403" y="403860"/>
                  </a:lnTo>
                  <a:lnTo>
                    <a:pt x="49530" y="499618"/>
                  </a:lnTo>
                  <a:lnTo>
                    <a:pt x="126111" y="442214"/>
                  </a:lnTo>
                  <a:lnTo>
                    <a:pt x="100596" y="429463"/>
                  </a:lnTo>
                  <a:lnTo>
                    <a:pt x="308737" y="12827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8" name="object 88"/>
          <p:cNvGraphicFramePr>
            <a:graphicFrameLocks noGrp="1"/>
          </p:cNvGraphicFramePr>
          <p:nvPr/>
        </p:nvGraphicFramePr>
        <p:xfrm>
          <a:off x="6283431" y="2362221"/>
          <a:ext cx="4192267" cy="198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2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9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7510">
                <a:tc>
                  <a:txBody>
                    <a:bodyPr/>
                    <a:lstStyle/>
                    <a:p>
                      <a:pPr marL="5715" algn="ctr">
                        <a:lnSpc>
                          <a:spcPts val="1789"/>
                        </a:lnSpc>
                      </a:pPr>
                      <a:r>
                        <a:rPr sz="1500" spc="-325" dirty="0">
                          <a:latin typeface="Times New Roman"/>
                          <a:cs typeface="Times New Roman"/>
                        </a:rPr>
                        <a:t>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250" spc="-30" baseline="27777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CQ1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789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250" spc="-37" baseline="-27777" dirty="0">
                          <a:latin typeface="Times New Roman"/>
                          <a:cs typeface="Times New Roman"/>
                        </a:rPr>
                        <a:t>1</a:t>
                      </a:r>
                      <a:endParaRPr sz="2250" baseline="-277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789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250" spc="-37" baseline="-27777" dirty="0">
                          <a:latin typeface="Times New Roman"/>
                          <a:cs typeface="Times New Roman"/>
                        </a:rPr>
                        <a:t>2</a:t>
                      </a:r>
                      <a:endParaRPr sz="2250" baseline="-277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789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250" spc="-37" baseline="-27777" dirty="0">
                          <a:latin typeface="Times New Roman"/>
                          <a:cs typeface="Times New Roman"/>
                        </a:rPr>
                        <a:t>3</a:t>
                      </a:r>
                      <a:endParaRPr sz="2250" baseline="-277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1789"/>
                        </a:lnSpc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250" spc="-37" baseline="-27777" dirty="0">
                          <a:latin typeface="Times New Roman"/>
                          <a:cs typeface="Times New Roman"/>
                        </a:rPr>
                        <a:t>4</a:t>
                      </a:r>
                      <a:endParaRPr sz="2250" baseline="-277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89"/>
                        </a:lnSpc>
                      </a:pPr>
                      <a:r>
                        <a:rPr sz="1500" spc="-27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500" spc="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O/P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+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89"/>
                        </a:lnSpc>
                      </a:pPr>
                      <a:r>
                        <a:rPr sz="1500" spc="-31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789"/>
                        </a:lnSpc>
                      </a:pPr>
                      <a:r>
                        <a:rPr sz="1500" spc="-280" dirty="0">
                          <a:latin typeface="Times New Roman"/>
                          <a:cs typeface="Times New Roman"/>
                        </a:rPr>
                        <a:t>OFF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789"/>
                        </a:lnSpc>
                      </a:pPr>
                      <a:r>
                        <a:rPr sz="1500" spc="-280" dirty="0">
                          <a:latin typeface="Times New Roman"/>
                          <a:cs typeface="Times New Roman"/>
                        </a:rPr>
                        <a:t>OFF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789"/>
                        </a:lnSpc>
                      </a:pPr>
                      <a:r>
                        <a:rPr sz="1500" spc="-31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+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89"/>
                        </a:lnSpc>
                      </a:pPr>
                      <a:r>
                        <a:rPr sz="1500" spc="-31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789"/>
                        </a:lnSpc>
                      </a:pPr>
                      <a:r>
                        <a:rPr sz="1500" spc="-280" dirty="0">
                          <a:latin typeface="Times New Roman"/>
                          <a:cs typeface="Times New Roman"/>
                        </a:rPr>
                        <a:t>OFF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789"/>
                        </a:lnSpc>
                      </a:pPr>
                      <a:r>
                        <a:rPr sz="1500" spc="-280" dirty="0">
                          <a:latin typeface="Times New Roman"/>
                          <a:cs typeface="Times New Roman"/>
                        </a:rPr>
                        <a:t>OFF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789"/>
                        </a:lnSpc>
                      </a:pPr>
                      <a:r>
                        <a:rPr sz="1500" spc="-31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+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89"/>
                        </a:lnSpc>
                      </a:pPr>
                      <a:r>
                        <a:rPr sz="1500" spc="-31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789"/>
                        </a:lnSpc>
                      </a:pPr>
                      <a:r>
                        <a:rPr sz="1500" spc="-280" dirty="0">
                          <a:latin typeface="Times New Roman"/>
                          <a:cs typeface="Times New Roman"/>
                        </a:rPr>
                        <a:t>OFF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789"/>
                        </a:lnSpc>
                      </a:pPr>
                      <a:r>
                        <a:rPr sz="1500" spc="-280" dirty="0">
                          <a:latin typeface="Times New Roman"/>
                          <a:cs typeface="Times New Roman"/>
                        </a:rPr>
                        <a:t>OFF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789"/>
                        </a:lnSpc>
                      </a:pPr>
                      <a:r>
                        <a:rPr sz="1500" spc="-31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789"/>
                        </a:lnSpc>
                      </a:pPr>
                      <a:r>
                        <a:rPr sz="1500" spc="-450" dirty="0">
                          <a:latin typeface="Malgun Gothic"/>
                          <a:cs typeface="Malgun Gothic"/>
                        </a:rPr>
                        <a:t>—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789"/>
                        </a:lnSpc>
                      </a:pPr>
                      <a:r>
                        <a:rPr sz="1500" spc="-280" dirty="0">
                          <a:latin typeface="Times New Roman"/>
                          <a:cs typeface="Times New Roman"/>
                        </a:rPr>
                        <a:t>OFF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89"/>
                        </a:lnSpc>
                      </a:pPr>
                      <a:r>
                        <a:rPr sz="1500" spc="-31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89"/>
                        </a:lnSpc>
                      </a:pPr>
                      <a:r>
                        <a:rPr sz="1500" spc="-31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789"/>
                        </a:lnSpc>
                      </a:pPr>
                      <a:r>
                        <a:rPr sz="1500" spc="-280" dirty="0">
                          <a:latin typeface="Times New Roman"/>
                          <a:cs typeface="Times New Roman"/>
                        </a:rPr>
                        <a:t>OFF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789"/>
                        </a:lnSpc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" name="object 89"/>
          <p:cNvSpPr txBox="1"/>
          <p:nvPr/>
        </p:nvSpPr>
        <p:spPr>
          <a:xfrm>
            <a:off x="2295551" y="5560872"/>
            <a:ext cx="307403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A</a:t>
            </a:r>
            <a:r>
              <a:rPr sz="1600" spc="-10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CC0000"/>
                </a:solidFill>
                <a:latin typeface="Arial MT"/>
                <a:cs typeface="Arial MT"/>
              </a:rPr>
              <a:t>standard</a:t>
            </a:r>
            <a:r>
              <a:rPr sz="1600" spc="-4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TTL</a:t>
            </a:r>
            <a:r>
              <a:rPr sz="1600" spc="-6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NAND</a:t>
            </a:r>
            <a:r>
              <a:rPr sz="1600" spc="-2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gate</a:t>
            </a:r>
            <a:r>
              <a:rPr sz="1600" spc="-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CC0000"/>
                </a:solidFill>
                <a:latin typeface="Arial MT"/>
                <a:cs typeface="Arial MT"/>
              </a:rPr>
              <a:t>circuit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633464" y="4525517"/>
            <a:ext cx="328485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1600" spc="-25" dirty="0">
                <a:solidFill>
                  <a:srgbClr val="CC0000"/>
                </a:solidFill>
                <a:latin typeface="Arial MT"/>
                <a:cs typeface="Arial MT"/>
              </a:rPr>
              <a:t>Table</a:t>
            </a:r>
            <a:r>
              <a:rPr sz="1600" spc="-5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explaining</a:t>
            </a:r>
            <a:r>
              <a:rPr sz="1600" spc="-6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the</a:t>
            </a:r>
            <a:r>
              <a:rPr sz="1600" spc="-4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operation</a:t>
            </a:r>
            <a:r>
              <a:rPr sz="1600" spc="-3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of</a:t>
            </a:r>
            <a:r>
              <a:rPr sz="1600" spc="-3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CC0000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TTL</a:t>
            </a:r>
            <a:r>
              <a:rPr sz="1600" spc="-7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NAND</a:t>
            </a:r>
            <a:r>
              <a:rPr sz="1600" spc="-2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gate</a:t>
            </a:r>
            <a:r>
              <a:rPr sz="1600" spc="-2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CC0000"/>
                </a:solidFill>
                <a:latin typeface="Arial MT"/>
                <a:cs typeface="Arial MT"/>
              </a:rPr>
              <a:t>circuit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title"/>
          </p:nvPr>
        </p:nvSpPr>
        <p:spPr>
          <a:xfrm>
            <a:off x="2362200" y="484849"/>
            <a:ext cx="10515600" cy="1086117"/>
          </a:xfrm>
          <a:prstGeom prst="rect">
            <a:avLst/>
          </a:prstGeom>
        </p:spPr>
        <p:txBody>
          <a:bodyPr vert="horz" wrap="square" lIns="0" tIns="405053" rIns="0" bIns="0" rtlCol="0" anchor="ctr">
            <a:spAutoFit/>
          </a:bodyPr>
          <a:lstStyle/>
          <a:p>
            <a:pPr marL="138239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TTL Circuit</a:t>
            </a:r>
            <a:r>
              <a:rPr b="1" spc="-15" dirty="0"/>
              <a:t> </a:t>
            </a:r>
            <a:r>
              <a:rPr b="1" spc="-10" dirty="0"/>
              <a:t>Operation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94" name="object 94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9EB22DF2-691D-4F72-8951-A1847ECF0051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95" name="object 95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6541" y="1860804"/>
            <a:ext cx="3916679" cy="44043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44041" y="379858"/>
            <a:ext cx="8227059" cy="52328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30480" indent="-342900">
              <a:spcBef>
                <a:spcPts val="105"/>
              </a:spcBef>
              <a:buChar char="•"/>
              <a:tabLst>
                <a:tab pos="381000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TTL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output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acts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current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sink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the </a:t>
            </a:r>
            <a:r>
              <a:rPr sz="3200" dirty="0">
                <a:latin typeface="Arial MT"/>
                <a:cs typeface="Arial MT"/>
              </a:rPr>
              <a:t>LOW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state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because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i="1" dirty="0">
                <a:latin typeface="Arial"/>
                <a:cs typeface="Arial"/>
              </a:rPr>
              <a:t>receives</a:t>
            </a:r>
            <a:r>
              <a:rPr sz="3200" i="1" spc="-4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current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from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input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gate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driving.</a:t>
            </a:r>
            <a:endParaRPr sz="3200">
              <a:latin typeface="Arial MT"/>
              <a:cs typeface="Arial MT"/>
            </a:endParaRPr>
          </a:p>
          <a:p>
            <a:pPr>
              <a:spcBef>
                <a:spcPts val="1355"/>
              </a:spcBef>
            </a:pPr>
            <a:endParaRPr sz="3200">
              <a:latin typeface="Arial MT"/>
              <a:cs typeface="Arial MT"/>
            </a:endParaRPr>
          </a:p>
          <a:p>
            <a:pPr marL="541020" marR="4072254" algn="ctr"/>
            <a:r>
              <a:rPr sz="2400" spc="-10" dirty="0">
                <a:latin typeface="Arial MT"/>
                <a:cs typeface="Arial MT"/>
              </a:rPr>
              <a:t>Transistor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4</a:t>
            </a:r>
            <a:r>
              <a:rPr sz="2400" spc="284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driving </a:t>
            </a:r>
            <a:r>
              <a:rPr sz="2400" dirty="0">
                <a:latin typeface="Arial MT"/>
                <a:cs typeface="Arial MT"/>
              </a:rPr>
              <a:t>gate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essentially </a:t>
            </a:r>
            <a:r>
              <a:rPr sz="2400" dirty="0">
                <a:latin typeface="Arial MT"/>
                <a:cs typeface="Arial MT"/>
              </a:rPr>
              <a:t>“shorts”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ground.</a:t>
            </a:r>
            <a:endParaRPr sz="2400">
              <a:latin typeface="Arial MT"/>
              <a:cs typeface="Arial MT"/>
            </a:endParaRPr>
          </a:p>
          <a:p>
            <a:pPr>
              <a:spcBef>
                <a:spcPts val="905"/>
              </a:spcBef>
            </a:pPr>
            <a:endParaRPr sz="2400">
              <a:latin typeface="Arial MT"/>
              <a:cs typeface="Arial MT"/>
            </a:endParaRPr>
          </a:p>
          <a:p>
            <a:pPr marL="548640" marR="4079240" algn="ctr"/>
            <a:r>
              <a:rPr sz="2400" dirty="0">
                <a:latin typeface="Arial MT"/>
                <a:cs typeface="Arial MT"/>
              </a:rPr>
              <a:t>LOW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voltage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forward- </a:t>
            </a:r>
            <a:r>
              <a:rPr sz="2400" dirty="0">
                <a:latin typeface="Arial MT"/>
                <a:cs typeface="Arial MT"/>
              </a:rPr>
              <a:t>biases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emitter–base </a:t>
            </a:r>
            <a:r>
              <a:rPr sz="2400" dirty="0">
                <a:latin typeface="Arial MT"/>
                <a:cs typeface="Arial MT"/>
              </a:rPr>
              <a:t>junction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spc="254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current </a:t>
            </a:r>
            <a:r>
              <a:rPr sz="2400" dirty="0">
                <a:latin typeface="Arial MT"/>
                <a:cs typeface="Arial MT"/>
              </a:rPr>
              <a:t>flows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back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4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B775A2D0-6252-467E-964B-692D21C0C349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8F493-6F8C-B70E-50EA-8E5282F3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3FBF-2975-4FEF-BF99-23B43613CF77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46AAA-707C-205A-9824-81921C42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BBED2-94B5-A65F-009F-E66FF76C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C2EE7A-C77F-A46D-CEBF-8499E021E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649" y="-138223"/>
            <a:ext cx="9311729" cy="33567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523C9E-4D9E-B1DC-DA75-6857E53EE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502" y="3089311"/>
            <a:ext cx="8846280" cy="386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1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6B1B1-58A0-939E-5E91-AF9B3F5B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3FBF-2975-4FEF-BF99-23B43613CF77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2FAC73-B107-04AE-6865-FA8B04568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D882C-860C-802B-110D-600970A1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B4D5C-0BB5-43F1-6B62-90D61A008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2" y="1997923"/>
            <a:ext cx="4536683" cy="31709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7826A2-29AE-057A-5510-492055779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913" y="1997923"/>
            <a:ext cx="7381374" cy="317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7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26645" y="3947816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0" y="0"/>
                </a:moveTo>
                <a:lnTo>
                  <a:pt x="339493" y="0"/>
                </a:lnTo>
              </a:path>
            </a:pathLst>
          </a:custGeom>
          <a:ln w="287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66137" y="3775323"/>
            <a:ext cx="0" cy="86360"/>
          </a:xfrm>
          <a:custGeom>
            <a:avLst/>
            <a:gdLst/>
            <a:ahLst/>
            <a:cxnLst/>
            <a:rect l="l" t="t" r="r" b="b"/>
            <a:pathLst>
              <a:path h="86360">
                <a:moveTo>
                  <a:pt x="0" y="86082"/>
                </a:moveTo>
                <a:lnTo>
                  <a:pt x="0" y="0"/>
                </a:lnTo>
              </a:path>
            </a:pathLst>
          </a:custGeom>
          <a:ln w="28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6645" y="4292446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0" y="0"/>
                </a:moveTo>
                <a:lnTo>
                  <a:pt x="339493" y="0"/>
                </a:lnTo>
              </a:path>
            </a:pathLst>
          </a:custGeom>
          <a:ln w="287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66137" y="4378872"/>
            <a:ext cx="0" cy="86360"/>
          </a:xfrm>
          <a:custGeom>
            <a:avLst/>
            <a:gdLst/>
            <a:ahLst/>
            <a:cxnLst/>
            <a:rect l="l" t="t" r="r" b="b"/>
            <a:pathLst>
              <a:path h="86360">
                <a:moveTo>
                  <a:pt x="0" y="0"/>
                </a:moveTo>
                <a:lnTo>
                  <a:pt x="0" y="86068"/>
                </a:lnTo>
              </a:path>
            </a:pathLst>
          </a:custGeom>
          <a:ln w="28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301316" y="3603486"/>
            <a:ext cx="1009650" cy="1021080"/>
            <a:chOff x="1777316" y="3603486"/>
            <a:chExt cx="1009650" cy="1021080"/>
          </a:xfrm>
        </p:grpSpPr>
        <p:sp>
          <p:nvSpPr>
            <p:cNvPr id="7" name="object 7"/>
            <p:cNvSpPr/>
            <p:nvPr/>
          </p:nvSpPr>
          <p:spPr>
            <a:xfrm>
              <a:off x="2202644" y="4062574"/>
              <a:ext cx="339725" cy="109855"/>
            </a:xfrm>
            <a:custGeom>
              <a:avLst/>
              <a:gdLst/>
              <a:ahLst/>
              <a:cxnLst/>
              <a:rect l="l" t="t" r="r" b="b"/>
              <a:pathLst>
                <a:path w="339725" h="109854">
                  <a:moveTo>
                    <a:pt x="0" y="57736"/>
                  </a:moveTo>
                  <a:lnTo>
                    <a:pt x="203272" y="0"/>
                  </a:lnTo>
                </a:path>
                <a:path w="339725" h="109854">
                  <a:moveTo>
                    <a:pt x="0" y="57736"/>
                  </a:moveTo>
                  <a:lnTo>
                    <a:pt x="205249" y="109580"/>
                  </a:lnTo>
                </a:path>
                <a:path w="339725" h="109854">
                  <a:moveTo>
                    <a:pt x="339493" y="57736"/>
                  </a:moveTo>
                  <a:lnTo>
                    <a:pt x="0" y="57736"/>
                  </a:lnTo>
                </a:path>
              </a:pathLst>
            </a:custGeom>
            <a:ln w="285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34395" y="3660565"/>
              <a:ext cx="895350" cy="906780"/>
            </a:xfrm>
            <a:custGeom>
              <a:avLst/>
              <a:gdLst/>
              <a:ahLst/>
              <a:cxnLst/>
              <a:rect l="l" t="t" r="r" b="b"/>
              <a:pathLst>
                <a:path w="895350" h="906779">
                  <a:moveTo>
                    <a:pt x="0" y="452479"/>
                  </a:moveTo>
                  <a:lnTo>
                    <a:pt x="2623" y="502050"/>
                  </a:lnTo>
                  <a:lnTo>
                    <a:pt x="10314" y="550056"/>
                  </a:lnTo>
                  <a:lnTo>
                    <a:pt x="22800" y="596221"/>
                  </a:lnTo>
                  <a:lnTo>
                    <a:pt x="39810" y="640271"/>
                  </a:lnTo>
                  <a:lnTo>
                    <a:pt x="61072" y="681931"/>
                  </a:lnTo>
                  <a:lnTo>
                    <a:pt x="86315" y="720928"/>
                  </a:lnTo>
                  <a:lnTo>
                    <a:pt x="115268" y="756985"/>
                  </a:lnTo>
                  <a:lnTo>
                    <a:pt x="147659" y="789829"/>
                  </a:lnTo>
                  <a:lnTo>
                    <a:pt x="183216" y="819185"/>
                  </a:lnTo>
                  <a:lnTo>
                    <a:pt x="221669" y="844779"/>
                  </a:lnTo>
                  <a:lnTo>
                    <a:pt x="262746" y="866334"/>
                  </a:lnTo>
                  <a:lnTo>
                    <a:pt x="306175" y="883578"/>
                  </a:lnTo>
                  <a:lnTo>
                    <a:pt x="351686" y="896235"/>
                  </a:lnTo>
                  <a:lnTo>
                    <a:pt x="399005" y="904030"/>
                  </a:lnTo>
                  <a:lnTo>
                    <a:pt x="447863" y="906690"/>
                  </a:lnTo>
                  <a:lnTo>
                    <a:pt x="496701" y="904030"/>
                  </a:lnTo>
                  <a:lnTo>
                    <a:pt x="543997" y="896235"/>
                  </a:lnTo>
                  <a:lnTo>
                    <a:pt x="589479" y="883578"/>
                  </a:lnTo>
                  <a:lnTo>
                    <a:pt x="632877" y="866334"/>
                  </a:lnTo>
                  <a:lnTo>
                    <a:pt x="673921" y="844779"/>
                  </a:lnTo>
                  <a:lnTo>
                    <a:pt x="712339" y="819185"/>
                  </a:lnTo>
                  <a:lnTo>
                    <a:pt x="747862" y="789829"/>
                  </a:lnTo>
                  <a:lnTo>
                    <a:pt x="780219" y="756985"/>
                  </a:lnTo>
                  <a:lnTo>
                    <a:pt x="809140" y="720928"/>
                  </a:lnTo>
                  <a:lnTo>
                    <a:pt x="834353" y="681932"/>
                  </a:lnTo>
                  <a:lnTo>
                    <a:pt x="855589" y="640271"/>
                  </a:lnTo>
                  <a:lnTo>
                    <a:pt x="872577" y="596221"/>
                  </a:lnTo>
                  <a:lnTo>
                    <a:pt x="885046" y="550056"/>
                  </a:lnTo>
                  <a:lnTo>
                    <a:pt x="892726" y="502050"/>
                  </a:lnTo>
                  <a:lnTo>
                    <a:pt x="895346" y="452479"/>
                  </a:lnTo>
                  <a:lnTo>
                    <a:pt x="892726" y="403235"/>
                  </a:lnTo>
                  <a:lnTo>
                    <a:pt x="885046" y="355512"/>
                  </a:lnTo>
                  <a:lnTo>
                    <a:pt x="872577" y="309588"/>
                  </a:lnTo>
                  <a:lnTo>
                    <a:pt x="855589" y="265742"/>
                  </a:lnTo>
                  <a:lnTo>
                    <a:pt x="834353" y="224252"/>
                  </a:lnTo>
                  <a:lnTo>
                    <a:pt x="809140" y="185394"/>
                  </a:lnTo>
                  <a:lnTo>
                    <a:pt x="780219" y="149447"/>
                  </a:lnTo>
                  <a:lnTo>
                    <a:pt x="747862" y="116689"/>
                  </a:lnTo>
                  <a:lnTo>
                    <a:pt x="712339" y="87397"/>
                  </a:lnTo>
                  <a:lnTo>
                    <a:pt x="673921" y="61850"/>
                  </a:lnTo>
                  <a:lnTo>
                    <a:pt x="632877" y="40325"/>
                  </a:lnTo>
                  <a:lnTo>
                    <a:pt x="589479" y="23099"/>
                  </a:lnTo>
                  <a:lnTo>
                    <a:pt x="543997" y="10451"/>
                  </a:lnTo>
                  <a:lnTo>
                    <a:pt x="496701" y="2659"/>
                  </a:lnTo>
                  <a:lnTo>
                    <a:pt x="447863" y="0"/>
                  </a:lnTo>
                  <a:lnTo>
                    <a:pt x="399005" y="2659"/>
                  </a:lnTo>
                  <a:lnTo>
                    <a:pt x="351686" y="10451"/>
                  </a:lnTo>
                  <a:lnTo>
                    <a:pt x="306175" y="23099"/>
                  </a:lnTo>
                  <a:lnTo>
                    <a:pt x="262746" y="40325"/>
                  </a:lnTo>
                  <a:lnTo>
                    <a:pt x="221669" y="61850"/>
                  </a:lnTo>
                  <a:lnTo>
                    <a:pt x="183216" y="87397"/>
                  </a:lnTo>
                  <a:lnTo>
                    <a:pt x="147659" y="116689"/>
                  </a:lnTo>
                  <a:lnTo>
                    <a:pt x="115268" y="149447"/>
                  </a:lnTo>
                  <a:lnTo>
                    <a:pt x="86315" y="185394"/>
                  </a:lnTo>
                  <a:lnTo>
                    <a:pt x="61072" y="224252"/>
                  </a:lnTo>
                  <a:lnTo>
                    <a:pt x="39810" y="265742"/>
                  </a:lnTo>
                  <a:lnTo>
                    <a:pt x="22800" y="309588"/>
                  </a:lnTo>
                  <a:lnTo>
                    <a:pt x="10314" y="355511"/>
                  </a:lnTo>
                  <a:lnTo>
                    <a:pt x="2623" y="403235"/>
                  </a:lnTo>
                  <a:lnTo>
                    <a:pt x="0" y="452479"/>
                  </a:lnTo>
                </a:path>
              </a:pathLst>
            </a:custGeom>
            <a:ln w="114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47819" y="3775322"/>
              <a:ext cx="594360" cy="690245"/>
            </a:xfrm>
            <a:custGeom>
              <a:avLst/>
              <a:gdLst/>
              <a:ahLst/>
              <a:cxnLst/>
              <a:rect l="l" t="t" r="r" b="b"/>
              <a:pathLst>
                <a:path w="594360" h="690245">
                  <a:moveTo>
                    <a:pt x="594318" y="0"/>
                  </a:moveTo>
                  <a:lnTo>
                    <a:pt x="594318" y="172493"/>
                  </a:lnTo>
                </a:path>
                <a:path w="594360" h="690245">
                  <a:moveTo>
                    <a:pt x="594318" y="517124"/>
                  </a:moveTo>
                  <a:lnTo>
                    <a:pt x="594318" y="689617"/>
                  </a:lnTo>
                </a:path>
                <a:path w="594360" h="690245">
                  <a:moveTo>
                    <a:pt x="0" y="603549"/>
                  </a:moveTo>
                  <a:lnTo>
                    <a:pt x="169775" y="603549"/>
                  </a:lnTo>
                </a:path>
                <a:path w="594360" h="690245">
                  <a:moveTo>
                    <a:pt x="169775" y="603549"/>
                  </a:moveTo>
                  <a:lnTo>
                    <a:pt x="169775" y="95063"/>
                  </a:lnTo>
                </a:path>
              </a:pathLst>
            </a:custGeom>
            <a:ln w="285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02644" y="3904610"/>
              <a:ext cx="0" cy="431165"/>
            </a:xfrm>
            <a:custGeom>
              <a:avLst/>
              <a:gdLst/>
              <a:ahLst/>
              <a:cxnLst/>
              <a:rect l="l" t="t" r="r" b="b"/>
              <a:pathLst>
                <a:path h="431164">
                  <a:moveTo>
                    <a:pt x="0" y="172479"/>
                  </a:moveTo>
                  <a:lnTo>
                    <a:pt x="0" y="258562"/>
                  </a:lnTo>
                </a:path>
                <a:path h="431164">
                  <a:moveTo>
                    <a:pt x="0" y="0"/>
                  </a:moveTo>
                  <a:lnTo>
                    <a:pt x="0" y="86411"/>
                  </a:lnTo>
                </a:path>
                <a:path h="431164">
                  <a:moveTo>
                    <a:pt x="0" y="344973"/>
                  </a:moveTo>
                  <a:lnTo>
                    <a:pt x="0" y="431041"/>
                  </a:lnTo>
                </a:path>
              </a:pathLst>
            </a:custGeom>
            <a:ln w="570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8633" y="4120310"/>
              <a:ext cx="116562" cy="222188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3726645" y="2568523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0" y="0"/>
                </a:moveTo>
                <a:lnTo>
                  <a:pt x="339493" y="0"/>
                </a:lnTo>
              </a:path>
            </a:pathLst>
          </a:custGeom>
          <a:ln w="287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66137" y="2396473"/>
            <a:ext cx="0" cy="86360"/>
          </a:xfrm>
          <a:custGeom>
            <a:avLst/>
            <a:gdLst/>
            <a:ahLst/>
            <a:cxnLst/>
            <a:rect l="l" t="t" r="r" b="b"/>
            <a:pathLst>
              <a:path h="86360">
                <a:moveTo>
                  <a:pt x="0" y="86096"/>
                </a:moveTo>
                <a:lnTo>
                  <a:pt x="0" y="0"/>
                </a:lnTo>
              </a:path>
            </a:pathLst>
          </a:custGeom>
          <a:ln w="28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26645" y="2913626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0" y="0"/>
                </a:moveTo>
                <a:lnTo>
                  <a:pt x="339493" y="0"/>
                </a:lnTo>
              </a:path>
            </a:pathLst>
          </a:custGeom>
          <a:ln w="287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66137" y="2999579"/>
            <a:ext cx="0" cy="86360"/>
          </a:xfrm>
          <a:custGeom>
            <a:avLst/>
            <a:gdLst/>
            <a:ahLst/>
            <a:cxnLst/>
            <a:rect l="l" t="t" r="r" b="b"/>
            <a:pathLst>
              <a:path h="86360">
                <a:moveTo>
                  <a:pt x="0" y="0"/>
                </a:moveTo>
                <a:lnTo>
                  <a:pt x="0" y="86096"/>
                </a:lnTo>
              </a:path>
            </a:pathLst>
          </a:custGeom>
          <a:ln w="28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3040202" y="2224266"/>
            <a:ext cx="1270635" cy="2162175"/>
            <a:chOff x="1516201" y="2224265"/>
            <a:chExt cx="1270635" cy="2162175"/>
          </a:xfrm>
        </p:grpSpPr>
        <p:sp>
          <p:nvSpPr>
            <p:cNvPr id="17" name="object 17"/>
            <p:cNvSpPr/>
            <p:nvPr/>
          </p:nvSpPr>
          <p:spPr>
            <a:xfrm>
              <a:off x="2202643" y="2687085"/>
              <a:ext cx="339725" cy="109855"/>
            </a:xfrm>
            <a:custGeom>
              <a:avLst/>
              <a:gdLst/>
              <a:ahLst/>
              <a:cxnLst/>
              <a:rect l="l" t="t" r="r" b="b"/>
              <a:pathLst>
                <a:path w="339725" h="109855">
                  <a:moveTo>
                    <a:pt x="339493" y="54060"/>
                  </a:moveTo>
                  <a:lnTo>
                    <a:pt x="134244" y="109694"/>
                  </a:lnTo>
                </a:path>
                <a:path w="339725" h="109855">
                  <a:moveTo>
                    <a:pt x="339493" y="54060"/>
                  </a:moveTo>
                  <a:lnTo>
                    <a:pt x="132550" y="0"/>
                  </a:lnTo>
                </a:path>
                <a:path w="339725" h="109855">
                  <a:moveTo>
                    <a:pt x="0" y="54060"/>
                  </a:moveTo>
                  <a:lnTo>
                    <a:pt x="339493" y="54060"/>
                  </a:lnTo>
                </a:path>
              </a:pathLst>
            </a:custGeom>
            <a:ln w="285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34395" y="2281343"/>
              <a:ext cx="895350" cy="907415"/>
            </a:xfrm>
            <a:custGeom>
              <a:avLst/>
              <a:gdLst/>
              <a:ahLst/>
              <a:cxnLst/>
              <a:rect l="l" t="t" r="r" b="b"/>
              <a:pathLst>
                <a:path w="895350" h="907414">
                  <a:moveTo>
                    <a:pt x="0" y="452508"/>
                  </a:moveTo>
                  <a:lnTo>
                    <a:pt x="2623" y="502128"/>
                  </a:lnTo>
                  <a:lnTo>
                    <a:pt x="10314" y="550176"/>
                  </a:lnTo>
                  <a:lnTo>
                    <a:pt x="22800" y="596379"/>
                  </a:lnTo>
                  <a:lnTo>
                    <a:pt x="39810" y="640463"/>
                  </a:lnTo>
                  <a:lnTo>
                    <a:pt x="61072" y="682152"/>
                  </a:lnTo>
                  <a:lnTo>
                    <a:pt x="86315" y="721173"/>
                  </a:lnTo>
                  <a:lnTo>
                    <a:pt x="115268" y="757252"/>
                  </a:lnTo>
                  <a:lnTo>
                    <a:pt x="147659" y="790113"/>
                  </a:lnTo>
                  <a:lnTo>
                    <a:pt x="183216" y="819483"/>
                  </a:lnTo>
                  <a:lnTo>
                    <a:pt x="221669" y="845087"/>
                  </a:lnTo>
                  <a:lnTo>
                    <a:pt x="262746" y="866651"/>
                  </a:lnTo>
                  <a:lnTo>
                    <a:pt x="306175" y="883900"/>
                  </a:lnTo>
                  <a:lnTo>
                    <a:pt x="351686" y="896561"/>
                  </a:lnTo>
                  <a:lnTo>
                    <a:pt x="399005" y="904359"/>
                  </a:lnTo>
                  <a:lnTo>
                    <a:pt x="447863" y="907019"/>
                  </a:lnTo>
                  <a:lnTo>
                    <a:pt x="496701" y="904359"/>
                  </a:lnTo>
                  <a:lnTo>
                    <a:pt x="543997" y="896561"/>
                  </a:lnTo>
                  <a:lnTo>
                    <a:pt x="589479" y="883900"/>
                  </a:lnTo>
                  <a:lnTo>
                    <a:pt x="632877" y="866651"/>
                  </a:lnTo>
                  <a:lnTo>
                    <a:pt x="673921" y="845087"/>
                  </a:lnTo>
                  <a:lnTo>
                    <a:pt x="712339" y="819483"/>
                  </a:lnTo>
                  <a:lnTo>
                    <a:pt x="747862" y="790113"/>
                  </a:lnTo>
                  <a:lnTo>
                    <a:pt x="780219" y="757252"/>
                  </a:lnTo>
                  <a:lnTo>
                    <a:pt x="809140" y="721173"/>
                  </a:lnTo>
                  <a:lnTo>
                    <a:pt x="834353" y="682152"/>
                  </a:lnTo>
                  <a:lnTo>
                    <a:pt x="855589" y="640463"/>
                  </a:lnTo>
                  <a:lnTo>
                    <a:pt x="872577" y="596379"/>
                  </a:lnTo>
                  <a:lnTo>
                    <a:pt x="885046" y="550176"/>
                  </a:lnTo>
                  <a:lnTo>
                    <a:pt x="892726" y="502128"/>
                  </a:lnTo>
                  <a:lnTo>
                    <a:pt x="895346" y="452508"/>
                  </a:lnTo>
                  <a:lnTo>
                    <a:pt x="892726" y="403263"/>
                  </a:lnTo>
                  <a:lnTo>
                    <a:pt x="885046" y="355539"/>
                  </a:lnTo>
                  <a:lnTo>
                    <a:pt x="872577" y="309614"/>
                  </a:lnTo>
                  <a:lnTo>
                    <a:pt x="855589" y="265766"/>
                  </a:lnTo>
                  <a:lnTo>
                    <a:pt x="834353" y="224273"/>
                  </a:lnTo>
                  <a:lnTo>
                    <a:pt x="809140" y="185412"/>
                  </a:lnTo>
                  <a:lnTo>
                    <a:pt x="780219" y="149463"/>
                  </a:lnTo>
                  <a:lnTo>
                    <a:pt x="747862" y="116702"/>
                  </a:lnTo>
                  <a:lnTo>
                    <a:pt x="712339" y="87407"/>
                  </a:lnTo>
                  <a:lnTo>
                    <a:pt x="673921" y="61857"/>
                  </a:lnTo>
                  <a:lnTo>
                    <a:pt x="632877" y="40330"/>
                  </a:lnTo>
                  <a:lnTo>
                    <a:pt x="589479" y="23102"/>
                  </a:lnTo>
                  <a:lnTo>
                    <a:pt x="543997" y="10453"/>
                  </a:lnTo>
                  <a:lnTo>
                    <a:pt x="496701" y="2659"/>
                  </a:lnTo>
                  <a:lnTo>
                    <a:pt x="447863" y="0"/>
                  </a:lnTo>
                  <a:lnTo>
                    <a:pt x="399005" y="2659"/>
                  </a:lnTo>
                  <a:lnTo>
                    <a:pt x="351686" y="10453"/>
                  </a:lnTo>
                  <a:lnTo>
                    <a:pt x="306175" y="23102"/>
                  </a:lnTo>
                  <a:lnTo>
                    <a:pt x="262746" y="40330"/>
                  </a:lnTo>
                  <a:lnTo>
                    <a:pt x="221669" y="61857"/>
                  </a:lnTo>
                  <a:lnTo>
                    <a:pt x="183216" y="87407"/>
                  </a:lnTo>
                  <a:lnTo>
                    <a:pt x="147659" y="116702"/>
                  </a:lnTo>
                  <a:lnTo>
                    <a:pt x="115268" y="149463"/>
                  </a:lnTo>
                  <a:lnTo>
                    <a:pt x="86315" y="185412"/>
                  </a:lnTo>
                  <a:lnTo>
                    <a:pt x="61072" y="224273"/>
                  </a:lnTo>
                  <a:lnTo>
                    <a:pt x="39810" y="265766"/>
                  </a:lnTo>
                  <a:lnTo>
                    <a:pt x="22800" y="309614"/>
                  </a:lnTo>
                  <a:lnTo>
                    <a:pt x="10314" y="355539"/>
                  </a:lnTo>
                  <a:lnTo>
                    <a:pt x="2623" y="403263"/>
                  </a:lnTo>
                  <a:lnTo>
                    <a:pt x="0" y="452508"/>
                  </a:lnTo>
                </a:path>
              </a:pathLst>
            </a:custGeom>
            <a:ln w="114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47818" y="2396473"/>
              <a:ext cx="594360" cy="689610"/>
            </a:xfrm>
            <a:custGeom>
              <a:avLst/>
              <a:gdLst/>
              <a:ahLst/>
              <a:cxnLst/>
              <a:rect l="l" t="t" r="r" b="b"/>
              <a:pathLst>
                <a:path w="594360" h="689610">
                  <a:moveTo>
                    <a:pt x="594318" y="0"/>
                  </a:moveTo>
                  <a:lnTo>
                    <a:pt x="594318" y="172050"/>
                  </a:lnTo>
                </a:path>
                <a:path w="594360" h="689610">
                  <a:moveTo>
                    <a:pt x="594318" y="517152"/>
                  </a:moveTo>
                  <a:lnTo>
                    <a:pt x="594318" y="689203"/>
                  </a:lnTo>
                </a:path>
                <a:path w="594360" h="689610">
                  <a:moveTo>
                    <a:pt x="0" y="86096"/>
                  </a:moveTo>
                  <a:lnTo>
                    <a:pt x="169775" y="86096"/>
                  </a:lnTo>
                </a:path>
                <a:path w="594360" h="689610">
                  <a:moveTo>
                    <a:pt x="169775" y="603106"/>
                  </a:moveTo>
                  <a:lnTo>
                    <a:pt x="169775" y="94963"/>
                  </a:lnTo>
                </a:path>
              </a:pathLst>
            </a:custGeom>
            <a:ln w="285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02643" y="2525761"/>
              <a:ext cx="0" cy="431165"/>
            </a:xfrm>
            <a:custGeom>
              <a:avLst/>
              <a:gdLst/>
              <a:ahLst/>
              <a:cxnLst/>
              <a:rect l="l" t="t" r="r" b="b"/>
              <a:pathLst>
                <a:path h="431164">
                  <a:moveTo>
                    <a:pt x="0" y="172050"/>
                  </a:moveTo>
                  <a:lnTo>
                    <a:pt x="0" y="258576"/>
                  </a:lnTo>
                </a:path>
                <a:path h="431164">
                  <a:moveTo>
                    <a:pt x="0" y="0"/>
                  </a:moveTo>
                  <a:lnTo>
                    <a:pt x="0" y="86096"/>
                  </a:lnTo>
                </a:path>
                <a:path h="431164">
                  <a:moveTo>
                    <a:pt x="0" y="344530"/>
                  </a:moveTo>
                  <a:lnTo>
                    <a:pt x="0" y="430626"/>
                  </a:lnTo>
                </a:path>
              </a:pathLst>
            </a:custGeom>
            <a:ln w="570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8633" y="2500937"/>
              <a:ext cx="116563" cy="24020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523204" y="2482570"/>
              <a:ext cx="1019175" cy="1896745"/>
            </a:xfrm>
            <a:custGeom>
              <a:avLst/>
              <a:gdLst/>
              <a:ahLst/>
              <a:cxnLst/>
              <a:rect l="l" t="t" r="r" b="b"/>
              <a:pathLst>
                <a:path w="1019175" h="1896745">
                  <a:moveTo>
                    <a:pt x="1018933" y="603106"/>
                  </a:moveTo>
                  <a:lnTo>
                    <a:pt x="1018933" y="1292752"/>
                  </a:lnTo>
                </a:path>
                <a:path w="1019175" h="1896745">
                  <a:moveTo>
                    <a:pt x="424614" y="0"/>
                  </a:moveTo>
                  <a:lnTo>
                    <a:pt x="0" y="0"/>
                  </a:lnTo>
                </a:path>
                <a:path w="1019175" h="1896745">
                  <a:moveTo>
                    <a:pt x="1708" y="1896302"/>
                  </a:moveTo>
                  <a:lnTo>
                    <a:pt x="0" y="0"/>
                  </a:lnTo>
                </a:path>
              </a:pathLst>
            </a:custGeom>
            <a:ln w="14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4066137" y="4464941"/>
            <a:ext cx="0" cy="344805"/>
          </a:xfrm>
          <a:custGeom>
            <a:avLst/>
            <a:gdLst/>
            <a:ahLst/>
            <a:cxnLst/>
            <a:rect l="l" t="t" r="r" b="b"/>
            <a:pathLst>
              <a:path h="344804">
                <a:moveTo>
                  <a:pt x="0" y="0"/>
                </a:moveTo>
                <a:lnTo>
                  <a:pt x="0" y="344630"/>
                </a:lnTo>
              </a:path>
            </a:pathLst>
          </a:custGeom>
          <a:ln w="14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4002634" y="3362621"/>
            <a:ext cx="757555" cy="123825"/>
            <a:chOff x="2478633" y="3362620"/>
            <a:chExt cx="757555" cy="12382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633" y="3362620"/>
              <a:ext cx="116562" cy="11815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542137" y="3430635"/>
              <a:ext cx="594995" cy="0"/>
            </a:xfrm>
            <a:custGeom>
              <a:avLst/>
              <a:gdLst/>
              <a:ahLst/>
              <a:cxnLst/>
              <a:rect l="l" t="t" r="r" b="b"/>
              <a:pathLst>
                <a:path w="594994">
                  <a:moveTo>
                    <a:pt x="0" y="0"/>
                  </a:moveTo>
                  <a:lnTo>
                    <a:pt x="594855" y="0"/>
                  </a:lnTo>
                </a:path>
              </a:pathLst>
            </a:custGeom>
            <a:ln w="141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9083" y="3368197"/>
              <a:ext cx="116704" cy="117725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14803" y="1780987"/>
            <a:ext cx="88695" cy="9912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817970" y="3165925"/>
            <a:ext cx="554355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2700" spc="-25" dirty="0">
                <a:latin typeface="Times New Roman"/>
                <a:cs typeface="Times New Roman"/>
              </a:rPr>
              <a:t>O/P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96461" y="4809572"/>
            <a:ext cx="340360" cy="170815"/>
          </a:xfrm>
          <a:custGeom>
            <a:avLst/>
            <a:gdLst/>
            <a:ahLst/>
            <a:cxnLst/>
            <a:rect l="l" t="t" r="r" b="b"/>
            <a:pathLst>
              <a:path w="340360" h="170814">
                <a:moveTo>
                  <a:pt x="0" y="0"/>
                </a:moveTo>
                <a:lnTo>
                  <a:pt x="339917" y="0"/>
                </a:lnTo>
              </a:path>
              <a:path w="340360" h="170814">
                <a:moveTo>
                  <a:pt x="84979" y="86419"/>
                </a:moveTo>
                <a:lnTo>
                  <a:pt x="254796" y="86419"/>
                </a:lnTo>
              </a:path>
              <a:path w="340360" h="170814">
                <a:moveTo>
                  <a:pt x="132550" y="170763"/>
                </a:moveTo>
                <a:lnTo>
                  <a:pt x="217530" y="170763"/>
                </a:lnTo>
              </a:path>
            </a:pathLst>
          </a:custGeom>
          <a:ln w="570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2689787" y="4316034"/>
            <a:ext cx="789940" cy="118110"/>
            <a:chOff x="1165787" y="4316034"/>
            <a:chExt cx="789940" cy="118110"/>
          </a:xfrm>
        </p:grpSpPr>
        <p:sp>
          <p:nvSpPr>
            <p:cNvPr id="32" name="object 32"/>
            <p:cNvSpPr/>
            <p:nvPr/>
          </p:nvSpPr>
          <p:spPr>
            <a:xfrm>
              <a:off x="1268365" y="4378872"/>
              <a:ext cx="679450" cy="0"/>
            </a:xfrm>
            <a:custGeom>
              <a:avLst/>
              <a:gdLst/>
              <a:ahLst/>
              <a:cxnLst/>
              <a:rect l="l" t="t" r="r" b="b"/>
              <a:pathLst>
                <a:path w="679450">
                  <a:moveTo>
                    <a:pt x="679453" y="0"/>
                  </a:moveTo>
                  <a:lnTo>
                    <a:pt x="0" y="0"/>
                  </a:lnTo>
                </a:path>
              </a:pathLst>
            </a:custGeom>
            <a:ln w="141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5787" y="4316034"/>
              <a:ext cx="116675" cy="118068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2275113" y="4114104"/>
            <a:ext cx="426720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2700" spc="-25" dirty="0">
                <a:latin typeface="Times New Roman"/>
                <a:cs typeface="Times New Roman"/>
              </a:rPr>
              <a:t>I/P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43641" y="3094515"/>
            <a:ext cx="169545" cy="25583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550" spc="-50" dirty="0">
                <a:latin typeface="Times New Roman"/>
                <a:cs typeface="Times New Roman"/>
              </a:rPr>
              <a:t>D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43641" y="3525257"/>
            <a:ext cx="169545" cy="25583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550" spc="-50" dirty="0">
                <a:latin typeface="Times New Roman"/>
                <a:cs typeface="Times New Roman"/>
              </a:rPr>
              <a:t>D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43641" y="4383507"/>
            <a:ext cx="15176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-50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18240" y="1335465"/>
            <a:ext cx="867410" cy="1581150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118110">
              <a:spcBef>
                <a:spcPts val="1975"/>
              </a:spcBef>
            </a:pPr>
            <a:r>
              <a:rPr sz="2700" spc="-65" dirty="0">
                <a:latin typeface="Times New Roman"/>
                <a:cs typeface="Times New Roman"/>
              </a:rPr>
              <a:t>+V</a:t>
            </a:r>
            <a:r>
              <a:rPr sz="2700" spc="-97" baseline="-27777" dirty="0">
                <a:latin typeface="Times New Roman"/>
                <a:cs typeface="Times New Roman"/>
              </a:rPr>
              <a:t>DD</a:t>
            </a:r>
            <a:endParaRPr sz="2700" baseline="-27777">
              <a:latin typeface="Times New Roman"/>
              <a:cs typeface="Times New Roman"/>
            </a:endParaRPr>
          </a:p>
          <a:p>
            <a:pPr marL="38100">
              <a:spcBef>
                <a:spcPts val="1255"/>
              </a:spcBef>
            </a:pPr>
            <a:r>
              <a:rPr spc="-50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  <a:p>
            <a:pPr marL="292735">
              <a:spcBef>
                <a:spcPts val="470"/>
              </a:spcBef>
            </a:pPr>
            <a:r>
              <a:rPr sz="2700" spc="-25" dirty="0">
                <a:latin typeface="Times New Roman"/>
                <a:cs typeface="Times New Roman"/>
              </a:rPr>
              <a:t>Q</a:t>
            </a:r>
            <a:r>
              <a:rPr sz="3000" spc="-37" baseline="-20833" dirty="0">
                <a:latin typeface="Times New Roman"/>
                <a:cs typeface="Times New Roman"/>
              </a:rPr>
              <a:t>1</a:t>
            </a:r>
            <a:endParaRPr sz="3000" baseline="-20833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98578" y="3941610"/>
            <a:ext cx="271780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2700" spc="-50" dirty="0">
                <a:latin typeface="Times New Roman"/>
                <a:cs typeface="Times New Roman"/>
              </a:rPr>
              <a:t>Q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53375" y="4123185"/>
            <a:ext cx="153670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066137" y="1879321"/>
            <a:ext cx="0" cy="517525"/>
          </a:xfrm>
          <a:custGeom>
            <a:avLst/>
            <a:gdLst/>
            <a:ahLst/>
            <a:cxnLst/>
            <a:rect l="l" t="t" r="r" b="b"/>
            <a:pathLst>
              <a:path h="517525">
                <a:moveTo>
                  <a:pt x="0" y="0"/>
                </a:moveTo>
                <a:lnTo>
                  <a:pt x="0" y="517152"/>
                </a:lnTo>
              </a:path>
            </a:pathLst>
          </a:custGeom>
          <a:ln w="14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3572" y="4310843"/>
            <a:ext cx="116662" cy="117725"/>
          </a:xfrm>
          <a:prstGeom prst="rect">
            <a:avLst/>
          </a:prstGeom>
        </p:spPr>
      </p:pic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6206621" y="3199723"/>
          <a:ext cx="3709034" cy="1443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26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spc="-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15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00" spc="-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495" dirty="0">
                          <a:latin typeface="Times New Roman"/>
                          <a:cs typeface="Times New Roman"/>
                        </a:rPr>
                        <a:t>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1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3000" spc="-772" baseline="-23611" dirty="0">
                          <a:latin typeface="Times New Roman"/>
                          <a:cs typeface="Times New Roman"/>
                        </a:rPr>
                        <a:t>1</a:t>
                      </a:r>
                      <a:endParaRPr sz="3000" baseline="-23611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1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3000" spc="-772" baseline="-23611" dirty="0">
                          <a:latin typeface="Times New Roman"/>
                          <a:cs typeface="Times New Roman"/>
                        </a:rPr>
                        <a:t>2</a:t>
                      </a:r>
                      <a:endParaRPr sz="3000" baseline="-23611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7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spc="-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15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00" spc="-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484" dirty="0">
                          <a:latin typeface="Times New Roman"/>
                          <a:cs typeface="Times New Roman"/>
                        </a:rPr>
                        <a:t>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44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57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620" dirty="0">
                          <a:latin typeface="Times New Roman"/>
                          <a:cs typeface="Times New Roman"/>
                        </a:rPr>
                        <a:t>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57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434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00" spc="-2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495" dirty="0">
                          <a:latin typeface="Times New Roman"/>
                          <a:cs typeface="Times New Roman"/>
                        </a:rPr>
                        <a:t>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44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44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57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434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00" spc="-2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495" dirty="0">
                          <a:latin typeface="Times New Roman"/>
                          <a:cs typeface="Times New Roman"/>
                        </a:rPr>
                        <a:t>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57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630" dirty="0">
                          <a:latin typeface="Times New Roman"/>
                          <a:cs typeface="Times New Roman"/>
                        </a:rPr>
                        <a:t>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44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object 44"/>
          <p:cNvSpPr txBox="1"/>
          <p:nvPr/>
        </p:nvSpPr>
        <p:spPr>
          <a:xfrm>
            <a:off x="6246115" y="4830317"/>
            <a:ext cx="29457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5" dirty="0">
                <a:solidFill>
                  <a:srgbClr val="CC0000"/>
                </a:solidFill>
                <a:latin typeface="Arial MT"/>
                <a:cs typeface="Arial MT"/>
              </a:rPr>
              <a:t>Table</a:t>
            </a:r>
            <a:r>
              <a:rPr sz="1600" spc="-6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explaining</a:t>
            </a:r>
            <a:r>
              <a:rPr sz="1600" spc="-7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the</a:t>
            </a:r>
            <a:r>
              <a:rPr sz="1600" spc="-5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operation</a:t>
            </a:r>
            <a:r>
              <a:rPr sz="1600" spc="-4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CC0000"/>
                </a:solidFill>
                <a:latin typeface="Arial MT"/>
                <a:cs typeface="Arial MT"/>
              </a:rPr>
              <a:t>of</a:t>
            </a:r>
            <a:endParaRPr sz="1600">
              <a:latin typeface="Arial MT"/>
              <a:cs typeface="Arial MT"/>
            </a:endParaRPr>
          </a:p>
          <a:p>
            <a:pPr marL="12700"/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the</a:t>
            </a:r>
            <a:r>
              <a:rPr sz="1600" spc="-4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CMOS</a:t>
            </a:r>
            <a:r>
              <a:rPr sz="1600" spc="-3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inverter</a:t>
            </a:r>
            <a:r>
              <a:rPr sz="1600" spc="-3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CC0000"/>
                </a:solidFill>
                <a:latin typeface="Arial MT"/>
                <a:cs typeface="Arial MT"/>
              </a:rPr>
              <a:t>circuit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800603" y="5211571"/>
            <a:ext cx="213868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A</a:t>
            </a:r>
            <a:r>
              <a:rPr sz="1600" spc="-114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CMOS</a:t>
            </a:r>
            <a:r>
              <a:rPr sz="1600" spc="-2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inverter</a:t>
            </a:r>
            <a:r>
              <a:rPr sz="1600" spc="-2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CC0000"/>
                </a:solidFill>
                <a:latin typeface="Arial MT"/>
                <a:cs typeface="Arial MT"/>
              </a:rPr>
              <a:t>circuit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3271520" y="483235"/>
            <a:ext cx="5652770" cy="69659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MOS</a:t>
            </a:r>
            <a:r>
              <a:rPr spc="-5" dirty="0"/>
              <a:t> </a:t>
            </a:r>
            <a:r>
              <a:rPr dirty="0"/>
              <a:t>Circuit</a:t>
            </a:r>
            <a:r>
              <a:rPr spc="5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49" name="object 49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E273EAC2-0FBD-4D59-863E-B03CACB4C344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707723"/>
            <a:ext cx="5305647" cy="1419670"/>
          </a:xfrm>
          <a:prstGeom prst="rect">
            <a:avLst/>
          </a:prstGeom>
        </p:spPr>
        <p:txBody>
          <a:bodyPr vert="horz" wrap="square" lIns="0" tIns="73538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CMOS NAND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340" y="6344285"/>
            <a:ext cx="59156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i="1" dirty="0">
                <a:latin typeface="Times New Roman"/>
                <a:cs typeface="Times New Roman"/>
              </a:rPr>
              <a:t>n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transistors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-input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gate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D19FA-7F14-ED96-B34B-7786025CC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E3C24-1BEA-4B3F-91FB-85BE263D9A8B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2CB3F9-8662-9162-7E94-F90FA84D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F787E-D525-A3D1-D690-698D16D5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085019-AF7D-C1E4-26FF-E0A8B1A08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228" y="1162593"/>
            <a:ext cx="3909058" cy="43724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5E029B-F242-CF84-5A31-B9036C9C0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19" y="794703"/>
            <a:ext cx="4743450" cy="55435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CE84332-FD68-E7F2-EB5C-1F4B1882918E}"/>
              </a:ext>
            </a:extLst>
          </p:cNvPr>
          <p:cNvSpPr txBox="1"/>
          <p:nvPr/>
        </p:nvSpPr>
        <p:spPr>
          <a:xfrm>
            <a:off x="574158" y="1446028"/>
            <a:ext cx="1233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channel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950168" y="-370437"/>
            <a:ext cx="10515600" cy="1325563"/>
          </a:xfrm>
          <a:prstGeom prst="rect">
            <a:avLst/>
          </a:prstGeom>
        </p:spPr>
        <p:txBody>
          <a:bodyPr vert="horz" wrap="square" lIns="0" tIns="618032" rIns="0" bIns="0" rtlCol="0" anchor="ctr">
            <a:spAutoFit/>
          </a:bodyPr>
          <a:lstStyle/>
          <a:p>
            <a:pPr marL="22517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CMOS NOR </a:t>
            </a:r>
            <a:r>
              <a:rPr b="1" spc="-20" dirty="0"/>
              <a:t>Gate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1295398"/>
            <a:ext cx="8534400" cy="543610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B46B1-CB41-EC19-0098-FD43451F6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0542-60DA-4CDD-BECD-1D70FC44C896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3BC4D-1B7C-C162-8ABB-E0A773E1B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6BFC6-136F-D75F-269E-53BF90A6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2843" y="751458"/>
            <a:ext cx="8363584" cy="5325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5765" marR="55880" indent="-342900">
              <a:spcBef>
                <a:spcPts val="105"/>
              </a:spcBef>
              <a:buChar char="•"/>
              <a:tabLst>
                <a:tab pos="405765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TTL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output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acts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current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source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the </a:t>
            </a:r>
            <a:r>
              <a:rPr sz="3200" dirty="0">
                <a:latin typeface="Arial MT"/>
                <a:cs typeface="Arial MT"/>
              </a:rPr>
              <a:t>HIGH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state—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small </a:t>
            </a:r>
            <a:r>
              <a:rPr sz="3200" spc="-10" dirty="0">
                <a:latin typeface="Arial MT"/>
                <a:cs typeface="Arial MT"/>
              </a:rPr>
              <a:t>reverse-</a:t>
            </a:r>
            <a:r>
              <a:rPr sz="3200" dirty="0">
                <a:latin typeface="Arial MT"/>
                <a:cs typeface="Arial MT"/>
              </a:rPr>
              <a:t>bias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leakage current.</a:t>
            </a:r>
            <a:endParaRPr sz="3200">
              <a:latin typeface="Arial MT"/>
              <a:cs typeface="Arial MT"/>
            </a:endParaRPr>
          </a:p>
          <a:p>
            <a:pPr marR="4124325" algn="ctr">
              <a:spcBef>
                <a:spcPts val="85"/>
              </a:spcBef>
            </a:pPr>
            <a:r>
              <a:rPr sz="2400" spc="-10" dirty="0">
                <a:latin typeface="Arial MT"/>
                <a:cs typeface="Arial MT"/>
              </a:rPr>
              <a:t>Transistor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3</a:t>
            </a:r>
            <a:r>
              <a:rPr sz="2400" spc="23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supplying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marL="379095" marR="4504055" algn="ctr"/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current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(I</a:t>
            </a:r>
            <a:r>
              <a:rPr sz="2400" baseline="-20833" dirty="0">
                <a:latin typeface="Arial MT"/>
                <a:cs typeface="Arial MT"/>
              </a:rPr>
              <a:t>IH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required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spc="254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load</a:t>
            </a:r>
            <a:r>
              <a:rPr sz="2400" spc="-10" dirty="0">
                <a:latin typeface="Arial MT"/>
                <a:cs typeface="Arial MT"/>
              </a:rPr>
              <a:t> gate.</a:t>
            </a:r>
            <a:endParaRPr sz="2400">
              <a:latin typeface="Arial MT"/>
              <a:cs typeface="Arial MT"/>
            </a:endParaRPr>
          </a:p>
          <a:p>
            <a:pPr>
              <a:spcBef>
                <a:spcPts val="900"/>
              </a:spcBef>
            </a:pPr>
            <a:endParaRPr sz="2400">
              <a:latin typeface="Arial MT"/>
              <a:cs typeface="Arial MT"/>
            </a:endParaRPr>
          </a:p>
          <a:p>
            <a:pPr marR="3858260" algn="ctr"/>
            <a:r>
              <a:rPr sz="2400" i="1" dirty="0">
                <a:latin typeface="Arial"/>
                <a:cs typeface="Arial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3</a:t>
            </a:r>
            <a:r>
              <a:rPr sz="2400" spc="26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 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current-</a:t>
            </a:r>
            <a:endParaRPr sz="2400">
              <a:latin typeface="Arial"/>
              <a:cs typeface="Arial"/>
            </a:endParaRPr>
          </a:p>
          <a:p>
            <a:pPr marR="3858260" algn="ctr">
              <a:spcBef>
                <a:spcPts val="5"/>
              </a:spcBef>
            </a:pPr>
            <a:r>
              <a:rPr sz="2400" b="1" dirty="0">
                <a:latin typeface="Arial"/>
                <a:cs typeface="Arial"/>
              </a:rPr>
              <a:t>sourcing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 </a:t>
            </a:r>
            <a:r>
              <a:rPr sz="2400" b="1" spc="-10" dirty="0">
                <a:latin typeface="Arial"/>
                <a:cs typeface="Arial"/>
              </a:rPr>
              <a:t>pull-</a:t>
            </a:r>
            <a:r>
              <a:rPr sz="2400" b="1" dirty="0">
                <a:latin typeface="Arial"/>
                <a:cs typeface="Arial"/>
              </a:rPr>
              <a:t>up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transistor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375920" marR="4235450" algn="ctr"/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modern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TTL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series,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pull-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circuit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made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transistors.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9965" y="1853183"/>
            <a:ext cx="3848099" cy="44218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FCC6F3DA-0CCA-4B26-8769-BFE2E795845F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CA532D08-F365-4A5D-90FA-AEF888EA1B4A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47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2123644" y="306954"/>
            <a:ext cx="8239759" cy="37890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05104" algn="ctr">
              <a:spcBef>
                <a:spcPts val="525"/>
              </a:spcBef>
            </a:pPr>
            <a:r>
              <a:rPr sz="2000" dirty="0">
                <a:latin typeface="Arial MT"/>
                <a:cs typeface="Arial MT"/>
              </a:rPr>
              <a:t>Open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Collector/Open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Drain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Outputs</a:t>
            </a:r>
            <a:endParaRPr sz="2000" dirty="0">
              <a:latin typeface="Arial MT"/>
              <a:cs typeface="Arial MT"/>
            </a:endParaRPr>
          </a:p>
          <a:p>
            <a:pPr marL="354965" marR="5080" indent="-342900"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One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solution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problem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sharing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a </a:t>
            </a:r>
            <a:r>
              <a:rPr sz="3200" dirty="0">
                <a:latin typeface="Arial MT"/>
                <a:cs typeface="Arial MT"/>
              </a:rPr>
              <a:t>common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wire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among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gates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remove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the </a:t>
            </a:r>
            <a:r>
              <a:rPr sz="3200" dirty="0">
                <a:latin typeface="Arial MT"/>
                <a:cs typeface="Arial MT"/>
              </a:rPr>
              <a:t>active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pull-</a:t>
            </a:r>
            <a:r>
              <a:rPr sz="3200" dirty="0">
                <a:latin typeface="Arial MT"/>
                <a:cs typeface="Arial MT"/>
              </a:rPr>
              <a:t>up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transistor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from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each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gate’s </a:t>
            </a:r>
            <a:r>
              <a:rPr sz="3200" dirty="0">
                <a:latin typeface="Arial MT"/>
                <a:cs typeface="Arial MT"/>
              </a:rPr>
              <a:t>output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circuit.</a:t>
            </a:r>
            <a:endParaRPr sz="3200" dirty="0">
              <a:latin typeface="Arial MT"/>
              <a:cs typeface="Arial MT"/>
            </a:endParaRPr>
          </a:p>
          <a:p>
            <a:pPr marL="756285" marR="574675" indent="-287020">
              <a:spcBef>
                <a:spcPts val="69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way,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none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gates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</a:t>
            </a:r>
            <a:r>
              <a:rPr sz="2800" spc="-10" dirty="0">
                <a:latin typeface="Arial MT"/>
                <a:cs typeface="Arial MT"/>
              </a:rPr>
              <a:t>assert</a:t>
            </a:r>
            <a:endParaRPr sz="2800" dirty="0">
              <a:latin typeface="Arial MT"/>
              <a:cs typeface="Arial MT"/>
            </a:endParaRPr>
          </a:p>
          <a:p>
            <a:pPr marL="756285"/>
            <a:r>
              <a:rPr sz="2800" dirty="0">
                <a:latin typeface="Arial MT"/>
                <a:cs typeface="Arial MT"/>
              </a:rPr>
              <a:t>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logic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HIGH.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71927" y="1813560"/>
            <a:ext cx="7489190" cy="4273550"/>
            <a:chOff x="947927" y="1813560"/>
            <a:chExt cx="7489190" cy="4273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7927" y="1813560"/>
              <a:ext cx="7488935" cy="41757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82240" y="5762243"/>
              <a:ext cx="4272280" cy="325120"/>
            </a:xfrm>
            <a:custGeom>
              <a:avLst/>
              <a:gdLst/>
              <a:ahLst/>
              <a:cxnLst/>
              <a:rect l="l" t="t" r="r" b="b"/>
              <a:pathLst>
                <a:path w="4272280" h="325120">
                  <a:moveTo>
                    <a:pt x="477012" y="0"/>
                  </a:moveTo>
                  <a:lnTo>
                    <a:pt x="0" y="0"/>
                  </a:lnTo>
                  <a:lnTo>
                    <a:pt x="0" y="286512"/>
                  </a:lnTo>
                  <a:lnTo>
                    <a:pt x="477012" y="286512"/>
                  </a:lnTo>
                  <a:lnTo>
                    <a:pt x="477012" y="0"/>
                  </a:lnTo>
                  <a:close/>
                </a:path>
                <a:path w="4272280" h="325120">
                  <a:moveTo>
                    <a:pt x="4271772" y="38100"/>
                  </a:moveTo>
                  <a:lnTo>
                    <a:pt x="3794760" y="38100"/>
                  </a:lnTo>
                  <a:lnTo>
                    <a:pt x="3794760" y="324612"/>
                  </a:lnTo>
                  <a:lnTo>
                    <a:pt x="4271772" y="324612"/>
                  </a:lnTo>
                  <a:lnTo>
                    <a:pt x="4271772" y="38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27805" y="219675"/>
            <a:ext cx="5668010" cy="1361440"/>
          </a:xfrm>
          <a:prstGeom prst="rect">
            <a:avLst/>
          </a:prstGeom>
        </p:spPr>
        <p:txBody>
          <a:bodyPr vert="horz" wrap="square" lIns="0" tIns="90805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800" dirty="0"/>
              <a:t>Open</a:t>
            </a:r>
            <a:r>
              <a:rPr sz="2800" spc="-114" dirty="0"/>
              <a:t> </a:t>
            </a:r>
            <a:r>
              <a:rPr sz="2800" dirty="0"/>
              <a:t>Collector/Open</a:t>
            </a:r>
            <a:r>
              <a:rPr sz="2800" spc="-100" dirty="0"/>
              <a:t> </a:t>
            </a:r>
            <a:r>
              <a:rPr sz="2800" dirty="0"/>
              <a:t>Drain</a:t>
            </a:r>
            <a:r>
              <a:rPr sz="2800" spc="-105" dirty="0"/>
              <a:t> </a:t>
            </a:r>
            <a:r>
              <a:rPr sz="2800" spc="-10" dirty="0"/>
              <a:t>Outputs</a:t>
            </a:r>
            <a:endParaRPr sz="2800" dirty="0"/>
          </a:p>
          <a:p>
            <a:pPr marL="281305" marR="296545" indent="2540" algn="ctr">
              <a:lnSpc>
                <a:spcPct val="100000"/>
              </a:lnSpc>
              <a:spcBef>
                <a:spcPts val="545"/>
              </a:spcBef>
            </a:pPr>
            <a:r>
              <a:rPr sz="2500" b="1" dirty="0">
                <a:latin typeface="Arial"/>
                <a:cs typeface="Arial"/>
              </a:rPr>
              <a:t>TTL</a:t>
            </a:r>
            <a:r>
              <a:rPr sz="2500" b="1" spc="-6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outputs</a:t>
            </a:r>
            <a:r>
              <a:rPr sz="2500" b="1" spc="-5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modified</a:t>
            </a:r>
            <a:r>
              <a:rPr sz="2500" b="1" spc="-3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this</a:t>
            </a:r>
            <a:r>
              <a:rPr sz="2500" b="1" spc="-55" dirty="0">
                <a:latin typeface="Arial"/>
                <a:cs typeface="Arial"/>
              </a:rPr>
              <a:t> </a:t>
            </a:r>
            <a:r>
              <a:rPr sz="2500" b="1" spc="-25" dirty="0">
                <a:latin typeface="Arial"/>
                <a:cs typeface="Arial"/>
              </a:rPr>
              <a:t>way </a:t>
            </a:r>
            <a:r>
              <a:rPr sz="2500" b="1" dirty="0">
                <a:latin typeface="Arial"/>
                <a:cs typeface="Arial"/>
              </a:rPr>
              <a:t>are</a:t>
            </a:r>
            <a:r>
              <a:rPr sz="2500" b="1" spc="-65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called</a:t>
            </a:r>
            <a:r>
              <a:rPr sz="2500" b="1" spc="-55" dirty="0">
                <a:latin typeface="Arial"/>
                <a:cs typeface="Arial"/>
              </a:rPr>
              <a:t> </a:t>
            </a:r>
            <a:r>
              <a:rPr sz="2500" b="1" i="1" spc="-10" dirty="0">
                <a:latin typeface="Arial"/>
                <a:cs typeface="Arial"/>
              </a:rPr>
              <a:t>open-</a:t>
            </a:r>
            <a:r>
              <a:rPr sz="2500" b="1" i="1" dirty="0">
                <a:latin typeface="Arial"/>
                <a:cs typeface="Arial"/>
              </a:rPr>
              <a:t>collector</a:t>
            </a:r>
            <a:r>
              <a:rPr sz="2500" b="1" i="1" spc="-35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outputs.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50E6C8F1-EF0E-486F-9117-5C91804594BE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48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531363" y="5457444"/>
            <a:ext cx="3854450" cy="67518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59054" rIns="0" bIns="0" rtlCol="0">
            <a:spAutoFit/>
          </a:bodyPr>
          <a:lstStyle/>
          <a:p>
            <a:pPr algn="ctr">
              <a:spcBef>
                <a:spcPts val="464"/>
              </a:spcBef>
            </a:pPr>
            <a:r>
              <a:rPr sz="2000" dirty="0">
                <a:latin typeface="Arial MT"/>
                <a:cs typeface="Arial MT"/>
              </a:rPr>
              <a:t>CMOS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modified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way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open-drain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outputs.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B15C-AC62-7F42-A225-CBA2F5240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22" y="0"/>
            <a:ext cx="10515600" cy="516618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A19B2-638F-BB07-41A1-CC95B46AC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8A08-9235-4482-AA98-169107CA1891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6B1FB-B089-F148-F305-E1550261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3BDAB-DF14-5389-7054-2327B8B6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4ECA-2C00-4129-AA22-2996D096FEEF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F985906-FC9C-92C2-8514-A14498D69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81297"/>
            <a:ext cx="11842594" cy="62767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 diagram of standard TTL NOT gate is shown below. If Vi = 2.5V, then the mode of operations of transistors will be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Q1: Reverse Active, Q2: Normal Active, Q3: cut-off, Q4: saturation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Q1: Normal Active, Q2: Normal Active, Q3: cut-off, Q4: saturation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Q1: Normal Active, Q2: Saturation, Q3: saturation, Q4: cut-off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Q1: Reverse Active, Q2: Saturation, Q3: cut-off, Q4: saturation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8E6E0B-76DB-1A59-1AB4-511816C3C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6113"/>
            <a:ext cx="5701587" cy="393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9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5007103" y="6290386"/>
            <a:ext cx="217741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Digital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Electronics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MITCOE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50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0235" y="153546"/>
            <a:ext cx="3351529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IC</a:t>
            </a:r>
            <a:r>
              <a:rPr b="1" spc="-5" dirty="0"/>
              <a:t> </a:t>
            </a:r>
            <a:r>
              <a:rPr b="1" spc="-10" dirty="0"/>
              <a:t>Interfacing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3644" y="754506"/>
            <a:ext cx="8419465" cy="4522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165735" indent="-342900"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Interfacing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means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connecting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output(s)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one </a:t>
            </a:r>
            <a:r>
              <a:rPr sz="2800" dirty="0">
                <a:latin typeface="Arial MT"/>
                <a:cs typeface="Arial MT"/>
              </a:rPr>
              <a:t>circuit/system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input(s)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another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circuit/system.</a:t>
            </a:r>
            <a:endParaRPr sz="2800" dirty="0">
              <a:latin typeface="Arial MT"/>
              <a:cs typeface="Arial MT"/>
            </a:endParaRPr>
          </a:p>
          <a:p>
            <a:pPr marL="354965" marR="118745" indent="-342900">
              <a:lnSpc>
                <a:spcPts val="3020"/>
              </a:lnSpc>
              <a:spcBef>
                <a:spcPts val="72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simplest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most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desirable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interface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circuit </a:t>
            </a:r>
            <a:r>
              <a:rPr sz="2800" dirty="0">
                <a:latin typeface="Arial MT"/>
                <a:cs typeface="Arial MT"/>
              </a:rPr>
              <a:t>between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driver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load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direct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connection.</a:t>
            </a:r>
            <a:endParaRPr sz="2800" dirty="0">
              <a:latin typeface="Arial MT"/>
              <a:cs typeface="Arial MT"/>
            </a:endParaRPr>
          </a:p>
          <a:p>
            <a:pPr marL="756285" marR="349885" indent="-287020">
              <a:spcBef>
                <a:spcPts val="635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Often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direct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connection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cannot</a:t>
            </a:r>
            <a:r>
              <a:rPr sz="2800" i="1" spc="-7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made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due to</a:t>
            </a:r>
            <a:endParaRPr sz="2800" dirty="0">
              <a:latin typeface="Arial MT"/>
              <a:cs typeface="Arial MT"/>
            </a:endParaRPr>
          </a:p>
          <a:p>
            <a:pPr marL="756285"/>
            <a:r>
              <a:rPr sz="2800" dirty="0">
                <a:latin typeface="Arial MT"/>
                <a:cs typeface="Arial MT"/>
              </a:rPr>
              <a:t>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difference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electrical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characteristics.</a:t>
            </a:r>
            <a:endParaRPr sz="2800" dirty="0">
              <a:latin typeface="Arial MT"/>
              <a:cs typeface="Arial MT"/>
            </a:endParaRPr>
          </a:p>
          <a:p>
            <a:pPr marL="354965" marR="5080" indent="-342900">
              <a:lnSpc>
                <a:spcPct val="99800"/>
              </a:lnSpc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An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interface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circuit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connected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between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driver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load,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condition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driver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output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signal </a:t>
            </a:r>
            <a:r>
              <a:rPr sz="2800" dirty="0">
                <a:latin typeface="Arial MT"/>
                <a:cs typeface="Arial MT"/>
              </a:rPr>
              <a:t>so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compatible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requirements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load</a:t>
            </a:r>
            <a:r>
              <a:rPr sz="3200" spc="-10" dirty="0">
                <a:latin typeface="Arial MT"/>
                <a:cs typeface="Arial MT"/>
              </a:rPr>
              <a:t>.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E20D37-8D29-6A0E-32D5-67343EDF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AEA1-324A-424D-98A8-29A744FF433E}" type="datetime1">
              <a:rPr lang="en-US" smtClean="0"/>
              <a:t>9/30/2026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3375" y="725009"/>
            <a:ext cx="10515600" cy="680443"/>
          </a:xfrm>
          <a:prstGeom prst="rect">
            <a:avLst/>
          </a:prstGeom>
        </p:spPr>
        <p:txBody>
          <a:bodyPr vert="horz" wrap="square" lIns="0" tIns="186182" rIns="0" bIns="0" rtlCol="0" anchor="ctr">
            <a:spAutoFit/>
          </a:bodyPr>
          <a:lstStyle/>
          <a:p>
            <a:pPr marL="306197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IC </a:t>
            </a:r>
            <a:r>
              <a:rPr sz="3200" spc="-10" dirty="0"/>
              <a:t>Interfacing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5019" y="3520441"/>
            <a:ext cx="8449056" cy="24513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2442" y="886968"/>
            <a:ext cx="6016378" cy="23848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52B7E950-76B7-4260-A8CB-9F825598673C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3375" y="739499"/>
            <a:ext cx="10515600" cy="651460"/>
          </a:xfrm>
          <a:prstGeom prst="rect">
            <a:avLst/>
          </a:prstGeom>
        </p:spPr>
        <p:txBody>
          <a:bodyPr vert="horz" wrap="square" lIns="0" tIns="218440" rIns="0" bIns="0" rtlCol="0" anchor="ctr">
            <a:spAutoFit/>
          </a:bodyPr>
          <a:lstStyle/>
          <a:p>
            <a:pPr marL="320992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IC</a:t>
            </a:r>
            <a:r>
              <a:rPr sz="2800" spc="-30" dirty="0"/>
              <a:t> </a:t>
            </a:r>
            <a:r>
              <a:rPr sz="2800" spc="-10" dirty="0"/>
              <a:t>Interfacing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071116" y="886968"/>
            <a:ext cx="8455660" cy="5100955"/>
            <a:chOff x="547116" y="886967"/>
            <a:chExt cx="8455660" cy="51009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8442" y="886967"/>
              <a:ext cx="6016378" cy="23848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116" y="3270503"/>
              <a:ext cx="8455152" cy="27172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4484" y="3200400"/>
              <a:ext cx="3718560" cy="384175"/>
            </a:xfrm>
            <a:custGeom>
              <a:avLst/>
              <a:gdLst/>
              <a:ahLst/>
              <a:cxnLst/>
              <a:rect l="l" t="t" r="r" b="b"/>
              <a:pathLst>
                <a:path w="3718560" h="384175">
                  <a:moveTo>
                    <a:pt x="371856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3718560" y="384048"/>
                  </a:lnTo>
                  <a:lnTo>
                    <a:pt x="3718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6EC37F32-F61D-4F2F-9FC7-18DE9F35C7A3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9790" y="177496"/>
            <a:ext cx="81534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Logic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devices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voltage-</a:t>
            </a:r>
            <a:r>
              <a:rPr sz="2400" dirty="0">
                <a:latin typeface="Arial MT"/>
                <a:cs typeface="Arial MT"/>
              </a:rPr>
              <a:t>compatible,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interface</a:t>
            </a:r>
            <a:endParaRPr sz="2400">
              <a:latin typeface="Arial MT"/>
              <a:cs typeface="Arial MT"/>
            </a:endParaRPr>
          </a:p>
          <a:p>
            <a:pPr marL="355600"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necessary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under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circumstances: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50464" y="1021081"/>
            <a:ext cx="6181725" cy="1609725"/>
            <a:chOff x="1426463" y="1021080"/>
            <a:chExt cx="6181725" cy="1609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1807" y="1075944"/>
              <a:ext cx="5871856" cy="137441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31035" y="1025652"/>
              <a:ext cx="6172200" cy="1600200"/>
            </a:xfrm>
            <a:custGeom>
              <a:avLst/>
              <a:gdLst/>
              <a:ahLst/>
              <a:cxnLst/>
              <a:rect l="l" t="t" r="r" b="b"/>
              <a:pathLst>
                <a:path w="6172200" h="1600200">
                  <a:moveTo>
                    <a:pt x="0" y="1600200"/>
                  </a:moveTo>
                  <a:lnTo>
                    <a:pt x="6172200" y="1600200"/>
                  </a:lnTo>
                  <a:lnTo>
                    <a:pt x="6172200" y="0"/>
                  </a:lnTo>
                  <a:lnTo>
                    <a:pt x="0" y="0"/>
                  </a:lnTo>
                  <a:lnTo>
                    <a:pt x="0" y="1600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0345" y="3325367"/>
            <a:ext cx="8328659" cy="28590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61361" y="2702433"/>
            <a:ext cx="739203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Nominal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values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different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families/series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digital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devices.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46556DA8-A581-44B0-9F99-B13A25BC2C75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3375" y="338916"/>
            <a:ext cx="10515600" cy="1452628"/>
          </a:xfrm>
          <a:prstGeom prst="rect">
            <a:avLst/>
          </a:prstGeom>
        </p:spPr>
        <p:txBody>
          <a:bodyPr vert="horz" wrap="square" lIns="0" tIns="676579" rIns="0" bIns="0" rtlCol="0" anchor="ctr">
            <a:spAutoFit/>
          </a:bodyPr>
          <a:lstStyle/>
          <a:p>
            <a:pPr marL="2480945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latin typeface="Arial"/>
                <a:cs typeface="Arial"/>
              </a:rPr>
              <a:t>External</a:t>
            </a:r>
            <a:r>
              <a:rPr sz="2500" b="1" spc="-70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pull-</a:t>
            </a:r>
            <a:r>
              <a:rPr sz="2500" b="1" dirty="0">
                <a:latin typeface="Arial"/>
                <a:cs typeface="Arial"/>
              </a:rPr>
              <a:t>up</a:t>
            </a:r>
            <a:r>
              <a:rPr sz="2500" b="1" spc="-55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resistor</a:t>
            </a:r>
            <a:endParaRPr sz="2500">
              <a:latin typeface="Arial"/>
              <a:cs typeface="Arial"/>
            </a:endParaRPr>
          </a:p>
          <a:p>
            <a:pPr marL="2071370">
              <a:lnSpc>
                <a:spcPct val="100000"/>
              </a:lnSpc>
            </a:pPr>
            <a:r>
              <a:rPr sz="2500" b="1" dirty="0">
                <a:latin typeface="Arial"/>
                <a:cs typeface="Arial"/>
              </a:rPr>
              <a:t>is</a:t>
            </a:r>
            <a:r>
              <a:rPr sz="2500" b="1" spc="-4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used</a:t>
            </a:r>
            <a:r>
              <a:rPr sz="2500" b="1" spc="-35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when</a:t>
            </a:r>
            <a:r>
              <a:rPr sz="2500" b="1" spc="-6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TTL</a:t>
            </a:r>
            <a:r>
              <a:rPr sz="2500" b="1" spc="-5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drives</a:t>
            </a:r>
            <a:r>
              <a:rPr sz="2500" b="1" spc="-40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CMOS.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9604" y="2031492"/>
            <a:ext cx="5369052" cy="32750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9D21B111-A5A5-45D6-A131-3BA5080F0CB8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54</a:t>
            </a:fld>
            <a:endParaRPr spc="-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5219" y="756030"/>
            <a:ext cx="4367530" cy="7874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marR="5080" indent="31242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latin typeface="Arial"/>
                <a:cs typeface="Arial"/>
              </a:rPr>
              <a:t>Equivalent</a:t>
            </a:r>
            <a:r>
              <a:rPr sz="2500" b="1" spc="-114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CMOS</a:t>
            </a:r>
            <a:r>
              <a:rPr sz="2500" b="1" spc="-90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output </a:t>
            </a:r>
            <a:r>
              <a:rPr sz="2500" b="1" dirty="0">
                <a:latin typeface="Arial"/>
                <a:cs typeface="Arial"/>
              </a:rPr>
              <a:t>circuits</a:t>
            </a:r>
            <a:r>
              <a:rPr sz="2500" b="1" spc="-65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for</a:t>
            </a:r>
            <a:r>
              <a:rPr sz="2500" b="1" spc="-65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both</a:t>
            </a:r>
            <a:r>
              <a:rPr sz="2500" b="1" spc="-6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logic</a:t>
            </a:r>
            <a:r>
              <a:rPr sz="2500" b="1" spc="-55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states.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7563" y="2246377"/>
            <a:ext cx="7190740" cy="3515995"/>
            <a:chOff x="1083563" y="2246376"/>
            <a:chExt cx="7190740" cy="3515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3563" y="2246376"/>
              <a:ext cx="7190232" cy="34549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82240" y="5477255"/>
              <a:ext cx="4185285" cy="285115"/>
            </a:xfrm>
            <a:custGeom>
              <a:avLst/>
              <a:gdLst/>
              <a:ahLst/>
              <a:cxnLst/>
              <a:rect l="l" t="t" r="r" b="b"/>
              <a:pathLst>
                <a:path w="4185284" h="285114">
                  <a:moveTo>
                    <a:pt x="336804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336804" y="284988"/>
                  </a:lnTo>
                  <a:lnTo>
                    <a:pt x="336804" y="0"/>
                  </a:lnTo>
                  <a:close/>
                </a:path>
                <a:path w="4185284" h="285114">
                  <a:moveTo>
                    <a:pt x="4184904" y="0"/>
                  </a:moveTo>
                  <a:lnTo>
                    <a:pt x="3848100" y="0"/>
                  </a:lnTo>
                  <a:lnTo>
                    <a:pt x="3848100" y="284988"/>
                  </a:lnTo>
                  <a:lnTo>
                    <a:pt x="4184904" y="284988"/>
                  </a:lnTo>
                  <a:lnTo>
                    <a:pt x="4184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6C4986AF-2D0A-440F-9072-74D9D7443B6E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3643" y="751459"/>
            <a:ext cx="839597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substantial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shift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voltage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because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driver </a:t>
            </a:r>
            <a:r>
              <a:rPr sz="3200" dirty="0">
                <a:latin typeface="Arial MT"/>
                <a:cs typeface="Arial MT"/>
              </a:rPr>
              <a:t>&amp;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load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operate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supply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voltages </a:t>
            </a:r>
            <a:r>
              <a:rPr sz="3200" dirty="0">
                <a:latin typeface="Arial MT"/>
                <a:cs typeface="Arial MT"/>
              </a:rPr>
              <a:t>requires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voltage-</a:t>
            </a:r>
            <a:r>
              <a:rPr sz="3200" b="1" dirty="0">
                <a:latin typeface="Arial"/>
                <a:cs typeface="Arial"/>
              </a:rPr>
              <a:t>level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translator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interface circuit.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6325" y="2819401"/>
            <a:ext cx="4120111" cy="27104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82992" y="3474542"/>
            <a:ext cx="253746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175" algn="ctr"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accomplish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with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buffer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 </a:t>
            </a:r>
            <a:r>
              <a:rPr sz="2000" dirty="0">
                <a:latin typeface="Arial MT"/>
                <a:cs typeface="Arial MT"/>
              </a:rPr>
              <a:t>open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drain—</a:t>
            </a:r>
            <a:r>
              <a:rPr sz="2000" spc="-20" dirty="0">
                <a:latin typeface="Arial MT"/>
                <a:cs typeface="Arial MT"/>
              </a:rPr>
              <a:t>with</a:t>
            </a:r>
            <a:endParaRPr sz="2000">
              <a:latin typeface="Arial MT"/>
              <a:cs typeface="Arial MT"/>
            </a:endParaRPr>
          </a:p>
          <a:p>
            <a:pPr marL="3810" algn="ctr"/>
            <a:r>
              <a:rPr sz="2000" dirty="0">
                <a:latin typeface="Arial MT"/>
                <a:cs typeface="Arial MT"/>
              </a:rPr>
              <a:t>a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pull-</a:t>
            </a:r>
            <a:r>
              <a:rPr sz="2000" dirty="0">
                <a:latin typeface="Arial MT"/>
                <a:cs typeface="Arial MT"/>
              </a:rPr>
              <a:t>up </a:t>
            </a:r>
            <a:r>
              <a:rPr sz="2000" spc="-10" dirty="0">
                <a:latin typeface="Arial MT"/>
                <a:cs typeface="Arial MT"/>
              </a:rPr>
              <a:t>resistor.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392E432-A65A-4AE0-A6B5-8753E5016EF0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56</a:t>
            </a:fld>
            <a:endParaRPr spc="-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3333" y="2318095"/>
            <a:ext cx="4945379" cy="37382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23643" y="751458"/>
            <a:ext cx="8395970" cy="4610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substantial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shift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voltage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because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driver </a:t>
            </a:r>
            <a:r>
              <a:rPr sz="3200" dirty="0">
                <a:latin typeface="Arial MT"/>
                <a:cs typeface="Arial MT"/>
              </a:rPr>
              <a:t>&amp;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load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operate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supply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voltages </a:t>
            </a:r>
            <a:r>
              <a:rPr sz="3200" dirty="0">
                <a:latin typeface="Arial MT"/>
                <a:cs typeface="Arial MT"/>
              </a:rPr>
              <a:t>requires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voltage-</a:t>
            </a:r>
            <a:r>
              <a:rPr sz="3200" b="1" dirty="0">
                <a:latin typeface="Arial"/>
                <a:cs typeface="Arial"/>
              </a:rPr>
              <a:t>level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translator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interface circuit.</a:t>
            </a:r>
            <a:endParaRPr sz="3200">
              <a:latin typeface="Arial MT"/>
              <a:cs typeface="Arial MT"/>
            </a:endParaRPr>
          </a:p>
          <a:p>
            <a:pPr marL="210820" marR="6053455" indent="-1905" algn="ctr">
              <a:spcBef>
                <a:spcPts val="1525"/>
              </a:spcBef>
            </a:pPr>
            <a:r>
              <a:rPr sz="2000" dirty="0">
                <a:latin typeface="Arial MT"/>
                <a:cs typeface="Arial MT"/>
              </a:rPr>
              <a:t>Another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solution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is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dual-supply-level</a:t>
            </a:r>
            <a:endParaRPr sz="2000">
              <a:latin typeface="Arial MT"/>
              <a:cs typeface="Arial MT"/>
            </a:endParaRPr>
          </a:p>
          <a:p>
            <a:pPr marL="36830" marR="5881370" algn="ctr"/>
            <a:r>
              <a:rPr sz="2000" dirty="0">
                <a:latin typeface="Arial MT"/>
                <a:cs typeface="Arial MT"/>
              </a:rPr>
              <a:t>translator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circuit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using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supply </a:t>
            </a:r>
            <a:r>
              <a:rPr sz="2000" dirty="0">
                <a:latin typeface="Arial MT"/>
                <a:cs typeface="Arial MT"/>
              </a:rPr>
              <a:t>voltages,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each</a:t>
            </a:r>
            <a:r>
              <a:rPr sz="2000" spc="5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outputs, </a:t>
            </a:r>
            <a:r>
              <a:rPr sz="2000" dirty="0">
                <a:latin typeface="Arial MT"/>
                <a:cs typeface="Arial MT"/>
              </a:rPr>
              <a:t>translating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between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levels.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5007103" y="6290386"/>
            <a:ext cx="217741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Digital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Electronics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MITCOE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57</a:t>
            </a:fld>
            <a:endParaRPr spc="-25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B94CD-541D-B127-936B-0D3E50102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09F54-3095-4B4F-A52C-C06B11C51B0D}" type="datetime1">
              <a:rPr lang="en-US" smtClean="0"/>
              <a:t>9/30/2026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98243" y="751459"/>
            <a:ext cx="8446770" cy="217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0365" marR="30480" indent="-342900">
              <a:spcBef>
                <a:spcPts val="105"/>
              </a:spcBef>
              <a:buChar char="•"/>
              <a:tabLst>
                <a:tab pos="380365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substantial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shift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voltage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because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driver </a:t>
            </a:r>
            <a:r>
              <a:rPr sz="3200" dirty="0">
                <a:latin typeface="Arial MT"/>
                <a:cs typeface="Arial MT"/>
              </a:rPr>
              <a:t>&amp;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load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operate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supply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voltages</a:t>
            </a:r>
            <a:endParaRPr sz="3200">
              <a:latin typeface="Arial MT"/>
              <a:cs typeface="Arial MT"/>
            </a:endParaRPr>
          </a:p>
          <a:p>
            <a:pPr marL="380365" marR="30480">
              <a:lnSpc>
                <a:spcPts val="3210"/>
              </a:lnSpc>
              <a:spcBef>
                <a:spcPts val="630"/>
              </a:spcBef>
            </a:pPr>
            <a:r>
              <a:rPr sz="3200" dirty="0">
                <a:latin typeface="Arial MT"/>
                <a:cs typeface="Arial MT"/>
              </a:rPr>
              <a:t>requires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voltage-</a:t>
            </a:r>
            <a:r>
              <a:rPr sz="3200" b="1" dirty="0">
                <a:latin typeface="Arial"/>
                <a:cs typeface="Arial"/>
              </a:rPr>
              <a:t>level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translator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interface </a:t>
            </a:r>
            <a:r>
              <a:rPr sz="4800" spc="-37" baseline="-11284" dirty="0">
                <a:latin typeface="Arial MT"/>
                <a:cs typeface="Arial MT"/>
              </a:rPr>
              <a:t>circuit.</a:t>
            </a:r>
            <a:r>
              <a:rPr sz="2000" spc="-25" dirty="0">
                <a:latin typeface="Arial MT"/>
                <a:cs typeface="Arial MT"/>
              </a:rPr>
              <a:t>Another </a:t>
            </a:r>
            <a:r>
              <a:rPr sz="2000" dirty="0">
                <a:latin typeface="Arial MT"/>
                <a:cs typeface="Arial MT"/>
              </a:rPr>
              <a:t>common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solution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interface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 marR="283210" algn="ctr">
              <a:lnSpc>
                <a:spcPts val="2155"/>
              </a:lnSpc>
            </a:pPr>
            <a:r>
              <a:rPr sz="2000" dirty="0">
                <a:latin typeface="Arial MT"/>
                <a:cs typeface="Arial MT"/>
              </a:rPr>
              <a:t>buffer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series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withstand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input.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3317747"/>
            <a:ext cx="5506212" cy="25919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13217" y="3814064"/>
            <a:ext cx="228727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low-</a:t>
            </a:r>
            <a:r>
              <a:rPr sz="2000" dirty="0">
                <a:latin typeface="Arial MT"/>
                <a:cs typeface="Arial MT"/>
              </a:rPr>
              <a:t>voltage</a:t>
            </a:r>
            <a:r>
              <a:rPr sz="2000" spc="-10" dirty="0">
                <a:latin typeface="Arial MT"/>
                <a:cs typeface="Arial MT"/>
              </a:rPr>
              <a:t> series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0" dirty="0">
                <a:latin typeface="Arial MT"/>
                <a:cs typeface="Arial MT"/>
              </a:rPr>
              <a:t> 5-</a:t>
            </a:r>
            <a:r>
              <a:rPr sz="2000" dirty="0">
                <a:latin typeface="Arial MT"/>
                <a:cs typeface="Arial MT"/>
              </a:rPr>
              <a:t>V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tolerant inputs</a:t>
            </a:r>
            <a:endParaRPr sz="2000">
              <a:latin typeface="Arial MT"/>
              <a:cs typeface="Arial MT"/>
            </a:endParaRPr>
          </a:p>
          <a:p>
            <a:pPr marL="635" algn="ctr"/>
            <a:r>
              <a:rPr sz="2000" dirty="0">
                <a:latin typeface="Arial MT"/>
                <a:cs typeface="Arial MT"/>
              </a:rPr>
              <a:t>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interface.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AA8E7CBB-5A06-4D4C-B8C7-75BD7A7576C5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58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03375" y="522172"/>
            <a:ext cx="10515600" cy="1086117"/>
          </a:xfrm>
          <a:prstGeom prst="rect">
            <a:avLst/>
          </a:prstGeom>
        </p:spPr>
        <p:txBody>
          <a:bodyPr vert="horz" wrap="square" lIns="0" tIns="405053" rIns="0" bIns="0" rtlCol="0" anchor="ctr">
            <a:spAutoFit/>
          </a:bodyPr>
          <a:lstStyle/>
          <a:p>
            <a:pPr marL="37020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4051" y="1927194"/>
            <a:ext cx="8114547" cy="396732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35940" y="6290385"/>
            <a:ext cx="16338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Digital Electronics (ECE20020)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467861" y="6290385"/>
            <a:ext cx="220980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DCDE8859-3222-48B4-B6B8-22750A112B00}" type="datetime1">
              <a:rPr lang="en-US" spc="-10" smtClean="0"/>
              <a:t>9/30/2026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358885" y="6290385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pPr marL="136525">
                <a:lnSpc>
                  <a:spcPts val="1650"/>
                </a:lnSpc>
              </a:pPr>
              <a:t>59</a:t>
            </a:fld>
            <a:endParaRPr spc="-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8D3D-B5F2-1770-8F18-3634BD76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Families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B6C42C-0ED0-1BEA-C57C-F50866A7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D482E-68B6-166E-E65C-34A6085DD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ABD9E2-A457-642C-0F2A-3EC45273B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375" y="1893638"/>
            <a:ext cx="9655611" cy="3336493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A3A41DF-330D-A2E5-5B1A-87886C41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34D7-473A-41D2-AA26-8AD90EF68E39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6000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8152C-1006-146D-46D4-EF97BDC6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A90ED-0345-8127-06D8-E303DC34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9D465-A24C-5219-3545-D4CB1695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AC678-CE52-CA74-118B-82A55116EE7E}"/>
              </a:ext>
            </a:extLst>
          </p:cNvPr>
          <p:cNvSpPr txBox="1"/>
          <p:nvPr/>
        </p:nvSpPr>
        <p:spPr>
          <a:xfrm>
            <a:off x="1110344" y="2012407"/>
            <a:ext cx="105995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Circuit and Logic Design by Prof. Indranil Sengupta, IIT KGP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digital Electronics by R P Jain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NPTEL VIDEO by Dr. Amitava Dasgupta, IITM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Families by Dr. Basem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Elhalawany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Gates and Family by Dr. A. P. VAJPEYI, IITG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12EBFF-047D-F65D-C29A-1EFF50B93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497C-4B6F-488E-9C51-F36AF539169C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4977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53AE-9343-687E-C86B-0850C259B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375" y="402448"/>
            <a:ext cx="10515600" cy="718781"/>
          </a:xfrm>
        </p:spPr>
        <p:txBody>
          <a:bodyPr/>
          <a:lstStyle/>
          <a:p>
            <a:r>
              <a:rPr lang="en-US" dirty="0"/>
              <a:t>Quiz Solutions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32265-90C5-7630-6B94-F38A56751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3161D-2FAD-CF88-11C8-67DEB992D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ED08C-04BF-AE60-8303-DD542DCA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6C64C2-50A2-05D3-9B2B-FCD50B0E0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666" y="1560359"/>
            <a:ext cx="8458667" cy="46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412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9B516-1495-7D4F-D7C7-95904765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01AD7-3513-3CF8-350B-EF70B1507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244D-E78E-48EF-A4D1-50235F4428B5}" type="datetime1">
              <a:rPr lang="en-US" smtClean="0"/>
              <a:t>9/30/2026</a:t>
            </a:fld>
            <a:r>
              <a:rPr lang="en-IN"/>
              <a:t>CSE213 Digital Electronics and Logic Design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30473-47C3-E660-9170-471B1E122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Electronics (ECE20020)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6A6A0-070A-558E-ED99-8BCDD695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74208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9026</TotalTime>
  <Words>2919</Words>
  <Application>Microsoft Office PowerPoint</Application>
  <PresentationFormat>Widescreen</PresentationFormat>
  <Paragraphs>590</Paragraphs>
  <Slides>63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Malgun Gothic</vt:lpstr>
      <vt:lpstr>Arial</vt:lpstr>
      <vt:lpstr>Arial MT</vt:lpstr>
      <vt:lpstr>Calibri</vt:lpstr>
      <vt:lpstr>Calibri Light</vt:lpstr>
      <vt:lpstr>Times New Roman</vt:lpstr>
      <vt:lpstr>Wingdings</vt:lpstr>
      <vt:lpstr>1_Office Theme</vt:lpstr>
      <vt:lpstr>Unit II: Integrated Circuit Technology  </vt:lpstr>
      <vt:lpstr>Let's Check our knowledge </vt:lpstr>
      <vt:lpstr>Introduction</vt:lpstr>
      <vt:lpstr>Classification of Logic Families</vt:lpstr>
      <vt:lpstr>ICs are integrated using following integration techniques</vt:lpstr>
      <vt:lpstr>Characteristics of Digital ICs</vt:lpstr>
      <vt:lpstr>Voltage &amp; Current</vt:lpstr>
      <vt:lpstr>Voltage &amp; Current</vt:lpstr>
      <vt:lpstr>Electrical Characteristics</vt:lpstr>
      <vt:lpstr>Logic Level &amp; Voltage Range</vt:lpstr>
      <vt:lpstr>Fan-In</vt:lpstr>
      <vt:lpstr>Fan out</vt:lpstr>
      <vt:lpstr>Noise Margin</vt:lpstr>
      <vt:lpstr>Speed: Propagation Delay</vt:lpstr>
      <vt:lpstr>Characteristics of Digital ICs  </vt:lpstr>
      <vt:lpstr>Digital IC Terminology – Power Requirements</vt:lpstr>
      <vt:lpstr>Power Dissipation</vt:lpstr>
      <vt:lpstr>Speed-Power Product (Figure of Merit)</vt:lpstr>
      <vt:lpstr>Characteristics of Digital ICs</vt:lpstr>
      <vt:lpstr>Typical TTL series characteristics.</vt:lpstr>
      <vt:lpstr>Current Sourcing/Sinking</vt:lpstr>
      <vt:lpstr>Current Sourcing/Sinking</vt:lpstr>
      <vt:lpstr>Quiz#1</vt:lpstr>
      <vt:lpstr>Quiz#1 solution </vt:lpstr>
      <vt:lpstr>Quiz#2</vt:lpstr>
      <vt:lpstr>Quiz 2# Solution</vt:lpstr>
      <vt:lpstr>Quiz#3</vt:lpstr>
      <vt:lpstr>Quiz # 3 Solution </vt:lpstr>
      <vt:lpstr>Quiz#4</vt:lpstr>
      <vt:lpstr>Quiz#4 Solution</vt:lpstr>
      <vt:lpstr>PowerPoint Presentation</vt:lpstr>
      <vt:lpstr>PowerPoint Presentation</vt:lpstr>
      <vt:lpstr>Cut off</vt:lpstr>
      <vt:lpstr>Saturation Characteristics </vt:lpstr>
      <vt:lpstr>TTL Inverter </vt:lpstr>
      <vt:lpstr>TTL Inverter Voltage Transfer Characteristics </vt:lpstr>
      <vt:lpstr>Logic Family The basic TTL logic circuit is the NAND gate.</vt:lpstr>
      <vt:lpstr>TTL NAND gate LOW output</vt:lpstr>
      <vt:lpstr>TTL Circuit Operation</vt:lpstr>
      <vt:lpstr>PowerPoint Presentation</vt:lpstr>
      <vt:lpstr>PowerPoint Presentation</vt:lpstr>
      <vt:lpstr>PowerPoint Presentation</vt:lpstr>
      <vt:lpstr>MOS Circuit Operation</vt:lpstr>
      <vt:lpstr>CMOS NAND Gates</vt:lpstr>
      <vt:lpstr>CMOS NOR Gate</vt:lpstr>
      <vt:lpstr>PowerPoint Presentation</vt:lpstr>
      <vt:lpstr>PowerPoint Presentation</vt:lpstr>
      <vt:lpstr>Open Collector/Open Drain Outputs TTL outputs modified this way are called open-collector outputs.</vt:lpstr>
      <vt:lpstr>Quiz</vt:lpstr>
      <vt:lpstr>IC Interfacing</vt:lpstr>
      <vt:lpstr>IC Interfacing</vt:lpstr>
      <vt:lpstr>IC Interfacing</vt:lpstr>
      <vt:lpstr>PowerPoint Presentation</vt:lpstr>
      <vt:lpstr>External pull-up resistor is used when TTL drives CMOS.</vt:lpstr>
      <vt:lpstr>Equivalent CMOS output circuits for both logic states.</vt:lpstr>
      <vt:lpstr>PowerPoint Presentation</vt:lpstr>
      <vt:lpstr>PowerPoint Presentation</vt:lpstr>
      <vt:lpstr>PowerPoint Presentation</vt:lpstr>
      <vt:lpstr>Comparison of Logic Families</vt:lpstr>
      <vt:lpstr>Comparison of Logic Families</vt:lpstr>
      <vt:lpstr>References</vt:lpstr>
      <vt:lpstr>Quiz Solutions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Anagha Deshpande</dc:creator>
  <cp:lastModifiedBy>Rohini Kale</cp:lastModifiedBy>
  <cp:revision>15</cp:revision>
  <dcterms:created xsi:type="dcterms:W3CDTF">2025-05-09T05:32:36Z</dcterms:created>
  <dcterms:modified xsi:type="dcterms:W3CDTF">2026-09-30T08:15:40Z</dcterms:modified>
</cp:coreProperties>
</file>